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4" name="title-main"/>
          <p:cNvSpPr/>
          <p:nvPr/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Aceve Onboard</a:t>
            </a:r>
            <a:endParaRPr lang="en-US" sz="4400" dirty="0"/>
          </a:p>
        </p:txBody>
      </p:sp>
      <p:sp>
        <p:nvSpPr>
          <p:cNvPr id="5" name="title-subtitle"/>
          <p:cNvSpPr/>
          <p:nvPr/>
        </p:nvSpPr>
        <p:spPr>
          <a:xfrm>
            <a:off x="640080" y="2651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D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start delivering their own onboarding the day they sign — before we have provisioned anything.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Aceve Professional Services · Carl Bäckström &amp; Pierre Lindbom · Technical counterpart: Eric Lindberg · 2026-08-20 · Working name, provisional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3" name="slide-title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capacity, not customer demand, sets our pace</a:t>
            </a:r>
            <a:endParaRPr lang="en-US" sz="2600" dirty="0"/>
          </a:p>
        </p:txBody>
      </p:sp>
      <p:sp>
        <p:nvSpPr>
          <p:cNvPr id="4" name="title-rule"/>
          <p:cNvSpPr/>
          <p:nvPr/>
        </p:nvSpPr>
        <p:spPr>
          <a:xfrm>
            <a:off x="640080" y="886968"/>
            <a:ext cx="1371600" cy="32004"/>
          </a:xfrm>
          <a:prstGeom prst="rect">
            <a:avLst/>
          </a:prstGeom>
          <a:solidFill>
            <a:srgbClr val="BDD78F"/>
          </a:solidFill>
          <a:ln w="12700">
            <a:solidFill>
              <a:srgbClr val="BDD78F"/>
            </a:solidFill>
            <a:prstDash val="solid"/>
          </a:ln>
        </p:spPr>
      </p:sp>
      <p:sp>
        <p:nvSpPr>
          <p:cNvPr id="5" name="slide-body"/>
          <p:cNvSpPr/>
          <p:nvPr/>
        </p:nvSpPr>
        <p:spPr>
          <a:xfrm>
            <a:off x="640080" y="105156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cost per customer is consultant time — and consultant time does not scale. Every new customer, on every product, in every country, hits the same wall.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waits. Between signature and first consultant contact, nothing happens — delaying go-live, first value and first invoice.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ask for data we already hold. The current process documents the complaint in the customer's own words: “kund får ofta svara på samma fråga massa gånger”.</a:t>
            </a:r>
            <a:endParaRPr lang="en-US" sz="1600" dirty="0"/>
          </a:p>
        </p:txBody>
      </p:sp>
      <p:sp>
        <p:nvSpPr>
          <p:cNvPr id="6" name="callout-bg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solidFill>
            <a:srgbClr val="152F1A"/>
          </a:solidFill>
          <a:ln/>
        </p:spPr>
      </p:sp>
      <p:sp>
        <p:nvSpPr>
          <p:cNvPr id="7" name="callout-text"/>
          <p:cNvSpPr/>
          <p:nvPr/>
        </p:nvSpPr>
        <p:spPr>
          <a:xfrm>
            <a:off x="914400" y="3611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F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Structural, not anecdotal: capacity scales with headcount, demand does not care.</a:t>
            </a:r>
            <a:endParaRPr lang="en-US" sz="1600" dirty="0"/>
          </a:p>
        </p:txBody>
      </p:sp>
      <p:sp>
        <p:nvSpPr>
          <p:cNvPr id="8" name="footer"/>
          <p:cNvSpPr/>
          <p:nvPr/>
        </p:nvSpPr>
        <p:spPr>
          <a:xfrm>
            <a:off x="640080" y="4901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Aceve Onboard · 2026-08-20</a:t>
            </a:r>
            <a:endParaRPr lang="en-US" sz="900" dirty="0"/>
          </a:p>
        </p:txBody>
      </p:sp>
      <p:sp>
        <p:nvSpPr>
          <p:cNvPr id="9" name="page-num"/>
          <p:cNvSpPr/>
          <p:nvPr/>
        </p:nvSpPr>
        <p:spPr>
          <a:xfrm>
            <a:off x="822960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3" name="slide-title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waiting for a consultant to working from day one</a:t>
            </a:r>
            <a:endParaRPr lang="en-US" sz="2600" dirty="0"/>
          </a:p>
        </p:txBody>
      </p:sp>
      <p:sp>
        <p:nvSpPr>
          <p:cNvPr id="4" name="title-rule"/>
          <p:cNvSpPr/>
          <p:nvPr/>
        </p:nvSpPr>
        <p:spPr>
          <a:xfrm>
            <a:off x="640080" y="886968"/>
            <a:ext cx="1371600" cy="32004"/>
          </a:xfrm>
          <a:prstGeom prst="rect">
            <a:avLst/>
          </a:prstGeom>
          <a:solidFill>
            <a:srgbClr val="BDD78F"/>
          </a:solidFill>
          <a:ln w="12700">
            <a:solidFill>
              <a:srgbClr val="BDD7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3749040" cy="347472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6" name="col-left-header"/>
          <p:cNvSpPr/>
          <p:nvPr/>
        </p:nvSpPr>
        <p:spPr>
          <a:xfrm>
            <a:off x="64008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500" dirty="0"/>
          </a:p>
        </p:txBody>
      </p:sp>
      <p:sp>
        <p:nvSpPr>
          <p:cNvPr id="7" name="col-left-body"/>
          <p:cNvSpPr/>
          <p:nvPr/>
        </p:nvSpPr>
        <p:spPr>
          <a:xfrm>
            <a:off x="640080" y="148132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questionnaires sent as email attachments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checklists copied per customer on SharePoint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arrives late, in mixed quality, and is fixed by consultants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side sees one shared status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749040" cy="347472"/>
          </a:xfrm>
          <a:prstGeom prst="rect">
            <a:avLst/>
          </a:prstGeom>
          <a:solidFill>
            <a:srgbClr val="457951"/>
          </a:solidFill>
          <a:ln/>
        </p:spPr>
      </p:sp>
      <p:sp>
        <p:nvSpPr>
          <p:cNvPr id="9" name="col-right-header"/>
          <p:cNvSpPr/>
          <p:nvPr/>
        </p:nvSpPr>
        <p:spPr>
          <a:xfrm>
            <a:off x="466344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Aceve Onboard</a:t>
            </a:r>
            <a:endParaRPr lang="en-US" sz="1500" dirty="0"/>
          </a:p>
        </p:txBody>
      </p:sp>
      <p:sp>
        <p:nvSpPr>
          <p:cNvPr id="10" name="col-right-body"/>
          <p:cNvSpPr/>
          <p:nvPr/>
        </p:nvSpPr>
        <p:spPr>
          <a:xfrm>
            <a:off x="4663440" y="148132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logs in the day they sign — no account or database needed yet — and the portal stays in use through the implementation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Guided, sequential flow; several people in parallel; progress saved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mapping and validation catch errors at the source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status — customer and Aceve see the same thing</a:t>
            </a:r>
            <a:endParaRPr lang="en-US" sz="1400" dirty="0"/>
          </a:p>
        </p:txBody>
      </p:sp>
      <p:sp>
        <p:nvSpPr>
          <p:cNvPr id="11" name="footer"/>
          <p:cNvSpPr/>
          <p:nvPr/>
        </p:nvSpPr>
        <p:spPr>
          <a:xfrm>
            <a:off x="640080" y="4901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Aceve Onboard · 2026-08-20</a:t>
            </a:r>
            <a:endParaRPr lang="en-US" sz="900" dirty="0"/>
          </a:p>
        </p:txBody>
      </p:sp>
      <p:sp>
        <p:nvSpPr>
          <p:cNvPr id="12" name="page-num"/>
          <p:cNvSpPr/>
          <p:nvPr/>
        </p:nvSpPr>
        <p:spPr>
          <a:xfrm>
            <a:off x="822960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3" name="slide-title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what we already own — not a new platform bet</a:t>
            </a:r>
            <a:endParaRPr lang="en-US" sz="2600" dirty="0"/>
          </a:p>
        </p:txBody>
      </p:sp>
      <p:sp>
        <p:nvSpPr>
          <p:cNvPr id="4" name="title-rule"/>
          <p:cNvSpPr/>
          <p:nvPr/>
        </p:nvSpPr>
        <p:spPr>
          <a:xfrm>
            <a:off x="640080" y="886968"/>
            <a:ext cx="1371600" cy="32004"/>
          </a:xfrm>
          <a:prstGeom prst="rect">
            <a:avLst/>
          </a:prstGeom>
          <a:solidFill>
            <a:srgbClr val="BDD78F"/>
          </a:solidFill>
          <a:ln w="12700">
            <a:solidFill>
              <a:srgbClr val="BDD7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15568"/>
            <a:ext cx="2496312" cy="64008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6" name="col-0-header"/>
          <p:cNvSpPr/>
          <p:nvPr/>
        </p:nvSpPr>
        <p:spPr>
          <a:xfrm>
            <a:off x="640080" y="12344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seeds it</a:t>
            </a:r>
            <a:endParaRPr lang="en-US" sz="1500" dirty="0"/>
          </a:p>
        </p:txBody>
      </p:sp>
      <p:sp>
        <p:nvSpPr>
          <p:cNvPr id="7" name="col-0-body"/>
          <p:cNvSpPr/>
          <p:nvPr/>
        </p:nvSpPr>
        <p:spPr>
          <a:xfrm>
            <a:off x="640080" y="1627632"/>
            <a:ext cx="2496312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portal is pre-filled from the Account: company, contacts, region, products owned. The customer confirms — never re-enters. The portal enriches Salesforce back and closes with exactly one completion record. One source of truth.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9272" y="1115568"/>
            <a:ext cx="2496312" cy="64008"/>
          </a:xfrm>
          <a:prstGeom prst="rect">
            <a:avLst/>
          </a:prstGeom>
          <a:solidFill>
            <a:srgbClr val="152F1A"/>
          </a:solidFill>
          <a:ln/>
        </p:spPr>
      </p:sp>
      <p:sp>
        <p:nvSpPr>
          <p:cNvPr id="9" name="col-1-header"/>
          <p:cNvSpPr/>
          <p:nvPr/>
        </p:nvSpPr>
        <p:spPr>
          <a:xfrm>
            <a:off x="3319272" y="12344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Ingestro powers it</a:t>
            </a:r>
            <a:endParaRPr lang="en-US" sz="1500" dirty="0"/>
          </a:p>
        </p:txBody>
      </p:sp>
      <p:sp>
        <p:nvSpPr>
          <p:cNvPr id="10" name="col-1-body"/>
          <p:cNvSpPr/>
          <p:nvPr/>
        </p:nvSpPr>
        <p:spPr>
          <a:xfrm>
            <a:off x="3319272" y="1627632"/>
            <a:ext cx="2496312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migration engine is already licensed (signed MSA, 2026-05-29) and is the same Data Importer running inside Next today. AI proposes column mappings and cleaning; the customer confirms; validation runs per cell. Reuse, not new development.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98464" y="1115568"/>
            <a:ext cx="2496312" cy="64008"/>
          </a:xfrm>
          <a:prstGeom prst="rect">
            <a:avLst/>
          </a:prstGeom>
          <a:solidFill>
            <a:srgbClr val="457951"/>
          </a:solidFill>
          <a:ln/>
        </p:spPr>
      </p:sp>
      <p:sp>
        <p:nvSpPr>
          <p:cNvPr id="12" name="col-2-header"/>
          <p:cNvSpPr/>
          <p:nvPr/>
        </p:nvSpPr>
        <p:spPr>
          <a:xfrm>
            <a:off x="5998464" y="12344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 is validated</a:t>
            </a:r>
            <a:endParaRPr lang="en-US" sz="1500" dirty="0"/>
          </a:p>
        </p:txBody>
      </p:sp>
      <p:sp>
        <p:nvSpPr>
          <p:cNvPr id="13" name="col-2-body"/>
          <p:cNvSpPr/>
          <p:nvPr/>
        </p:nvSpPr>
        <p:spPr>
          <a:xfrm>
            <a:off x="5998464" y="1627632"/>
            <a:ext cx="2496312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prototypes — Carl's clickable mockup, the distributed tool, and Eric Lindberg's design model + Ingestro sandbox — reviewed with PS/CS practitioners across Next and Entré Office. Source code recovered and in hand. Evidence, not a blank page.</a:t>
            </a:r>
            <a:endParaRPr lang="en-US" sz="1250" dirty="0"/>
          </a:p>
        </p:txBody>
      </p:sp>
      <p:sp>
        <p:nvSpPr>
          <p:cNvPr id="14" name="footer"/>
          <p:cNvSpPr/>
          <p:nvPr/>
        </p:nvSpPr>
        <p:spPr>
          <a:xfrm>
            <a:off x="640080" y="4901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Aceve Onboard · 2026-08-20</a:t>
            </a:r>
            <a:endParaRPr lang="en-US" sz="900" dirty="0"/>
          </a:p>
        </p:txBody>
      </p:sp>
      <p:sp>
        <p:nvSpPr>
          <p:cNvPr id="15" name="page-num"/>
          <p:cNvSpPr/>
          <p:nvPr/>
        </p:nvSpPr>
        <p:spPr>
          <a:xfrm>
            <a:off x="822960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3" name="slide-title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has a destination — so automation compounds</a:t>
            </a:r>
            <a:endParaRPr lang="en-US" sz="2600" dirty="0"/>
          </a:p>
        </p:txBody>
      </p:sp>
      <p:sp>
        <p:nvSpPr>
          <p:cNvPr id="4" name="title-rule"/>
          <p:cNvSpPr/>
          <p:nvPr/>
        </p:nvSpPr>
        <p:spPr>
          <a:xfrm>
            <a:off x="640080" y="886968"/>
            <a:ext cx="1371600" cy="32004"/>
          </a:xfrm>
          <a:prstGeom prst="rect">
            <a:avLst/>
          </a:prstGeom>
          <a:solidFill>
            <a:srgbClr val="BDD78F"/>
          </a:solidFill>
          <a:ln w="12700">
            <a:solidFill>
              <a:srgbClr val="BDD78F"/>
            </a:solidFill>
            <a:prstDash val="solid"/>
          </a:ln>
        </p:spPr>
      </p:sp>
      <p:sp>
        <p:nvSpPr>
          <p:cNvPr id="5" name="slide-body"/>
          <p:cNvSpPr/>
          <p:nvPr/>
        </p:nvSpPr>
        <p:spPr>
          <a:xfrm>
            <a:off x="640080" y="105156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Product-agnostic by construction. Modules and fields are configuration, never code — Next is case one, Entré Office next; nothing in the design assumes either.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the customer fills carries its destination: a data-import mapping, a product API configuration field, or a provisioning parameter — resolved at go-live.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questions (today: Word attachments for Fortnox, Visma, e-invoice) become portal steps in the same flow. Human confirmation is the default; verified flows graduate to automation. North star: a small customer delivered end to end, fully self-service.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approved mapping is a reusable asset we own. Each customer migrated from a legacy system makes the next one on that system cheaper — automation compounds instead of resetting per project.</a:t>
            </a:r>
            <a:endParaRPr lang="en-US" sz="1500" dirty="0"/>
          </a:p>
        </p:txBody>
      </p:sp>
      <p:sp>
        <p:nvSpPr>
          <p:cNvPr id="6" name="footer"/>
          <p:cNvSpPr/>
          <p:nvPr/>
        </p:nvSpPr>
        <p:spPr>
          <a:xfrm>
            <a:off x="640080" y="4901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Aceve Onboard · 2026-08-20</a:t>
            </a:r>
            <a:endParaRPr lang="en-US" sz="900" dirty="0"/>
          </a:p>
        </p:txBody>
      </p:sp>
      <p:sp>
        <p:nvSpPr>
          <p:cNvPr id="7" name="page-num"/>
          <p:cNvSpPr/>
          <p:nvPr/>
        </p:nvSpPr>
        <p:spPr>
          <a:xfrm>
            <a:off x="822960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3" name="slide-title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Practitioners who run Office delivery expect a step change</a:t>
            </a:r>
            <a:endParaRPr lang="en-US" sz="2600" dirty="0"/>
          </a:p>
        </p:txBody>
      </p:sp>
      <p:sp>
        <p:nvSpPr>
          <p:cNvPr id="4" name="title-rule"/>
          <p:cNvSpPr/>
          <p:nvPr/>
        </p:nvSpPr>
        <p:spPr>
          <a:xfrm>
            <a:off x="640080" y="886968"/>
            <a:ext cx="1371600" cy="32004"/>
          </a:xfrm>
          <a:prstGeom prst="rect">
            <a:avLst/>
          </a:prstGeom>
          <a:solidFill>
            <a:srgbClr val="BDD78F"/>
          </a:solidFill>
          <a:ln w="12700">
            <a:solidFill>
              <a:srgbClr val="BDD7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188720"/>
            <a:ext cx="4572000" cy="192024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6" name="stat-number"/>
          <p:cNvSpPr/>
          <p:nvPr/>
        </p:nvSpPr>
        <p:spPr>
          <a:xfrm>
            <a:off x="2286000" y="1188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h → ~30 min</a:t>
            </a:r>
            <a:endParaRPr lang="en-US" sz="5400" dirty="0"/>
          </a:p>
        </p:txBody>
      </p:sp>
      <p:sp>
        <p:nvSpPr>
          <p:cNvPr id="7" name="stat-label"/>
          <p:cNvSpPr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PS/CS admin time per customer, with the tool</a:t>
            </a:r>
            <a:endParaRPr lang="en-US" sz="2000" dirty="0"/>
          </a:p>
        </p:txBody>
      </p:sp>
      <p:sp>
        <p:nvSpPr>
          <p:cNvPr id="8" name="stat-source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579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estimate — Sofie Johansson &amp; Gustav Öberg (Customer Success, Office delivery), 2026-08-19. A qualified estimate, not yet a timed measurement; a real before/after on one customer file is the next step. This deck carries no unvalidated programme figures, by standing project rule.</a:t>
            </a:r>
            <a:endParaRPr lang="en-US" sz="1100" dirty="0"/>
          </a:p>
        </p:txBody>
      </p:sp>
      <p:sp>
        <p:nvSpPr>
          <p:cNvPr id="9" name="footer"/>
          <p:cNvSpPr/>
          <p:nvPr/>
        </p:nvSpPr>
        <p:spPr>
          <a:xfrm>
            <a:off x="640080" y="4901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Aceve Onboard · 2026-08-20</a:t>
            </a:r>
            <a:endParaRPr lang="en-US" sz="900" dirty="0"/>
          </a:p>
        </p:txBody>
      </p:sp>
      <p:sp>
        <p:nvSpPr>
          <p:cNvPr id="10" name="page-num"/>
          <p:cNvSpPr/>
          <p:nvPr/>
        </p:nvSpPr>
        <p:spPr>
          <a:xfrm>
            <a:off x="822960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3" name="slide-title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delivers on a decision already made</a:t>
            </a:r>
            <a:endParaRPr lang="en-US" sz="2600" dirty="0"/>
          </a:p>
        </p:txBody>
      </p:sp>
      <p:sp>
        <p:nvSpPr>
          <p:cNvPr id="4" name="title-rule"/>
          <p:cNvSpPr/>
          <p:nvPr/>
        </p:nvSpPr>
        <p:spPr>
          <a:xfrm>
            <a:off x="640080" y="886968"/>
            <a:ext cx="1371600" cy="32004"/>
          </a:xfrm>
          <a:prstGeom prst="rect">
            <a:avLst/>
          </a:prstGeom>
          <a:solidFill>
            <a:srgbClr val="BDD78F"/>
          </a:solidFill>
          <a:ln w="12700">
            <a:solidFill>
              <a:srgbClr val="BDD78F"/>
            </a:solidFill>
            <a:prstDash val="solid"/>
          </a:ln>
        </p:spPr>
      </p:sp>
      <p:sp>
        <p:nvSpPr>
          <p:cNvPr id="5" name="slide-body"/>
          <p:cNvSpPr/>
          <p:nvPr/>
        </p:nvSpPr>
        <p:spPr>
          <a:xfrm>
            <a:off x="640080" y="105156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BSO steering names the tool as the mitigation for CSM capacity risk: “Define minimum viable onboarding scope &amp; manage through on-boarding tool.”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is licensed and in force: Ingestro Data Importer Business, signed MSA change order 2026-05-29.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agreed: PS owns the tool, Produkt supports — across the Aceve portfolio.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framing (Magnus Öhrman, 2026-08-10): an efficient onboarding solution benefits the whole company, and the value scales with the number of products it covers.</a:t>
            </a:r>
            <a:endParaRPr lang="en-US" sz="1500" dirty="0"/>
          </a:p>
        </p:txBody>
      </p:sp>
      <p:sp>
        <p:nvSpPr>
          <p:cNvPr id="6" name="footer"/>
          <p:cNvSpPr/>
          <p:nvPr/>
        </p:nvSpPr>
        <p:spPr>
          <a:xfrm>
            <a:off x="640080" y="4901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Aceve Onboard · 2026-08-20</a:t>
            </a:r>
            <a:endParaRPr lang="en-US" sz="900" dirty="0"/>
          </a:p>
        </p:txBody>
      </p:sp>
      <p:sp>
        <p:nvSpPr>
          <p:cNvPr id="7" name="page-num"/>
          <p:cNvSpPr/>
          <p:nvPr/>
        </p:nvSpPr>
        <p:spPr>
          <a:xfrm>
            <a:off x="822960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3" name="slide-title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building now — two tracks in parallel</a:t>
            </a:r>
            <a:endParaRPr lang="en-US" sz="2600" dirty="0"/>
          </a:p>
        </p:txBody>
      </p:sp>
      <p:sp>
        <p:nvSpPr>
          <p:cNvPr id="4" name="title-rule"/>
          <p:cNvSpPr/>
          <p:nvPr/>
        </p:nvSpPr>
        <p:spPr>
          <a:xfrm>
            <a:off x="640080" y="886968"/>
            <a:ext cx="1371600" cy="32004"/>
          </a:xfrm>
          <a:prstGeom prst="rect">
            <a:avLst/>
          </a:prstGeom>
          <a:solidFill>
            <a:srgbClr val="BDD78F"/>
          </a:solidFill>
          <a:ln w="12700">
            <a:solidFill>
              <a:srgbClr val="BDD7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2286000" cy="100584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6" name="row-0-label"/>
          <p:cNvSpPr/>
          <p:nvPr/>
        </p:nvSpPr>
        <p:spPr>
          <a:xfrm>
            <a:off x="777240" y="10972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— build (running)</a:t>
            </a:r>
            <a:endParaRPr lang="en-US" sz="1300" dirty="0"/>
          </a:p>
        </p:txBody>
      </p:sp>
      <p:sp>
        <p:nvSpPr>
          <p:cNvPr id="7" name="row-0-body"/>
          <p:cNvSpPr/>
          <p:nvPr/>
        </p:nvSpPr>
        <p:spPr>
          <a:xfrm>
            <a:off x="3154680" y="109728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 (PS) and Pierre (CS) build from the validated flow, with Eric Lindberg as technical counterpart (architecture, Ingestro): real frontend first, then Salesforce, Ingestro and product-API integrations. Documentation, tests and secure data handling are requirements from the start.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2286000" cy="100584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9" name="row-1-label"/>
          <p:cNvSpPr/>
          <p:nvPr/>
        </p:nvSpPr>
        <p:spPr>
          <a:xfrm>
            <a:off x="777240" y="22402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 — resourcing (open)</a:t>
            </a:r>
            <a:endParaRPr lang="en-US" sz="1300" dirty="0"/>
          </a:p>
        </p:txBody>
      </p:sp>
      <p:sp>
        <p:nvSpPr>
          <p:cNvPr id="10" name="row-1-body"/>
          <p:cNvSpPr/>
          <p:nvPr/>
        </p:nvSpPr>
        <p:spPr>
          <a:xfrm>
            <a:off x="3154680" y="224028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formal ask stands with Product leadership: up to 1 FTE fullstack, 1–2 months, deliverable “deployed and live against customers” — needed for deployment and integrations.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2286000" cy="1005840"/>
          </a:xfrm>
          <a:prstGeom prst="rect">
            <a:avLst/>
          </a:prstGeom>
          <a:solidFill>
            <a:srgbClr val="152F1A"/>
          </a:solidFill>
          <a:ln/>
        </p:spPr>
      </p:sp>
      <p:sp>
        <p:nvSpPr>
          <p:cNvPr id="12" name="row-2-label"/>
          <p:cNvSpPr/>
          <p:nvPr/>
        </p:nvSpPr>
        <p:spPr>
          <a:xfrm>
            <a:off x="777240" y="33832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 — IT</a:t>
            </a:r>
            <a:endParaRPr lang="en-US" sz="1300" dirty="0"/>
          </a:p>
        </p:txBody>
      </p:sp>
      <p:sp>
        <p:nvSpPr>
          <p:cNvPr id="13" name="row-2-body"/>
          <p:cNvSpPr/>
          <p:nvPr/>
        </p:nvSpPr>
        <p:spPr>
          <a:xfrm>
            <a:off x="3154680" y="338328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4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and external customer identity have been the critical path since June. They depend on an IT conversation, not on who writes the code.</a:t>
            </a:r>
            <a:endParaRPr lang="en-US" sz="1300" dirty="0"/>
          </a:p>
        </p:txBody>
      </p:sp>
      <p:sp>
        <p:nvSpPr>
          <p:cNvPr id="14" name="footer"/>
          <p:cNvSpPr/>
          <p:nvPr/>
        </p:nvSpPr>
        <p:spPr>
          <a:xfrm>
            <a:off x="640080" y="4901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Aceve Onboard · 2026-08-20</a:t>
            </a:r>
            <a:endParaRPr lang="en-US" sz="900" dirty="0"/>
          </a:p>
        </p:txBody>
      </p:sp>
      <p:sp>
        <p:nvSpPr>
          <p:cNvPr id="15" name="page-num"/>
          <p:cNvSpPr/>
          <p:nvPr/>
        </p:nvSpPr>
        <p:spPr>
          <a:xfrm>
            <a:off x="822960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BDD78F"/>
          </a:solidFill>
          <a:ln/>
        </p:spPr>
      </p:sp>
      <p:sp>
        <p:nvSpPr>
          <p:cNvPr id="4" name="closing"/>
          <p:cNvSpPr/>
          <p:nvPr/>
        </p:nvSpPr>
        <p:spPr>
          <a:xfrm>
            <a:off x="64008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decisions unlock time to value</a:t>
            </a:r>
            <a:endParaRPr lang="en-US" sz="3400" dirty="0"/>
          </a:p>
        </p:txBody>
      </p:sp>
      <p:sp>
        <p:nvSpPr>
          <p:cNvPr id="5" name="closing-body"/>
          <p:cNvSpPr/>
          <p:nvPr/>
        </p:nvSpPr>
        <p:spPr>
          <a:xfrm>
            <a:off x="640080" y="182880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1F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Resource the finish: up to 1 FTE fullstack, 1–2 months — deployed and live against customers, not another prototype.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1F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Open the IT conversation: hosting path and external customer identity — the critical path since June.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1F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Confirm the Salesforce integration pattern — 30 minutes with the integration-strategy owners makes the portal an early use case instead of a workaround.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Aceve Onboard · Carl Bäckström · carl.backstrom@aceve.com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Aceve Onboard — pitch</dc:title>
  <dc:subject>PptxGenJS Presentation</dc:subject>
  <dc:creator>Aceve</dc:creator>
  <cp:lastModifiedBy>Aceve</cp:lastModifiedBy>
  <cp:revision>1</cp:revision>
  <dcterms:created xsi:type="dcterms:W3CDTF">2026-08-20T21:58:40Z</dcterms:created>
  <dcterms:modified xsi:type="dcterms:W3CDTF">2026-08-20T21:58:40Z</dcterms:modified>
</cp:coreProperties>
</file>