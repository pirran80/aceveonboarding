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deck. Product-agnostic framing is deliberate: this is an Aceve capability, not a Next or BSO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number-free. Capacity, volume and deadline figures belong to the programme that measured them and are not carried in this project — see STATUS.md, section Figures. The structural argument holds without them and cannot be disputed on sourcing.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 between the two columns is not stated on purpose — it was never validated. If you want a number here, count the import matrix and write down the date you counted. That measurement is a strong artefact and needs no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 Prototype B, which was actually distributed to customers. It failed on exactly one requirement: shared multi-user state. SharePoint Online does not execute JS in uploaded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one that matters most for cross-department buy-in. Getting the Entré Office interest documented in writing is an open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this different from a normal onboarding wizard: it exists before the product does, and the migration actually happens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Ingestro runs client-side — customer data does not pass Ingestro's servers, which is a GDPR advantage worth preserving. It is the same importer component already running inside Next today, so this is reuse, not new development (confirmed by Ingestro 2026-08-06).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recovered Ingestro sandbox does the opposite — 17 modules and roughly 200 fields hardcoded in one 1,653-line file. That is precisely the thing not to carry forward. The field inventory is valuable; its location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legacy→target mapping library already exists as constants in bso_to_next_transformer.py, including the known gaps. The job is to move it into a mapping store, not rediscover it. No volume figure is quoted — the argument is about compounding, not about a headcount.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 owns the tool, Produkt supports — agreed before 2026-08-10. The resource dialogue with Magnus is open: no answer, no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F1A"/>
        </a:solidFill>
      </p:bgPr>
    </p:bg>
    <p:spTree>
      <p:nvGrpSpPr>
        <p:cNvPr id="1" name=""/>
        <p:cNvGrpSpPr/>
        <p:nvPr/>
      </p:nvGrpSpPr>
      <p:grpSpPr>
        <a:xfrm>
          <a:off x="0" y="0"/>
          <a:ext cx="0" cy="0"/>
          <a:chOff x="0" y="0"/>
          <a:chExt cx="0" cy="0"/>
        </a:xfrm>
      </p:grpSpPr>
      <p:sp>
        <p:nvSpPr>
          <p:cNvPr id="2" name="cover-bar"/>
          <p:cNvSpPr/>
          <p:nvPr/>
        </p:nvSpPr>
        <p:spPr>
          <a:xfrm>
            <a:off x="0" y="0"/>
            <a:ext cx="164592" cy="5143500"/>
          </a:xfrm>
          <a:prstGeom prst="rect">
            <a:avLst/>
          </a:prstGeom>
          <a:solidFill>
            <a:srgbClr val="BDD78F"/>
          </a:solidFill>
          <a:ln/>
        </p:spPr>
      </p:sp>
      <p:sp>
        <p:nvSpPr>
          <p:cNvPr id="3" name="cover-strip"/>
          <p:cNvSpPr/>
          <p:nvPr/>
        </p:nvSpPr>
        <p:spPr>
          <a:xfrm>
            <a:off x="0" y="4754880"/>
            <a:ext cx="9144000" cy="73152"/>
          </a:xfrm>
          <a:prstGeom prst="rect">
            <a:avLst/>
          </a:prstGeom>
          <a:solidFill>
            <a:srgbClr val="BDD78F"/>
          </a:solidFill>
          <a:ln/>
        </p:spPr>
      </p:sp>
      <p:sp>
        <p:nvSpPr>
          <p:cNvPr id="4" name="title-main"/>
          <p:cNvSpPr/>
          <p:nvPr/>
        </p:nvSpPr>
        <p:spPr>
          <a:xfrm>
            <a:off x="640080" y="1463040"/>
            <a:ext cx="7863840" cy="1371600"/>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Onboarding cost scales with customer count.</a:t>
            </a:r>
            <a:endParaRPr lang="en-US" sz="3600" dirty="0"/>
          </a:p>
          <a:p>
            <a:pPr algn="l" indent="0" marL="0">
              <a:buNone/>
            </a:pPr>
            <a:r>
              <a:rPr lang="en-US" sz="3600" b="1" dirty="0">
                <a:solidFill>
                  <a:srgbClr val="FFFFFF"/>
                </a:solidFill>
                <a:latin typeface="Arial" pitchFamily="34" charset="0"/>
                <a:ea typeface="Arial" pitchFamily="34" charset="-122"/>
                <a:cs typeface="Arial" pitchFamily="34" charset="-120"/>
              </a:rPr>
              <a:t>It does not have to.</a:t>
            </a:r>
            <a:endParaRPr lang="en-US" sz="3600" dirty="0"/>
          </a:p>
        </p:txBody>
      </p:sp>
      <p:sp>
        <p:nvSpPr>
          <p:cNvPr id="5" name="title-subtitle"/>
          <p:cNvSpPr/>
          <p:nvPr/>
        </p:nvSpPr>
        <p:spPr>
          <a:xfrm>
            <a:off x="640080" y="2971800"/>
            <a:ext cx="7863840" cy="548640"/>
          </a:xfrm>
          <a:prstGeom prst="rect">
            <a:avLst/>
          </a:prstGeom>
          <a:noFill/>
          <a:ln/>
        </p:spPr>
        <p:txBody>
          <a:bodyPr wrap="square" lIns="0" tIns="0" rIns="0" bIns="0" rtlCol="0" anchor="ctr"/>
          <a:lstStyle/>
          <a:p>
            <a:pPr indent="0" marL="0">
              <a:buNone/>
            </a:pPr>
            <a:r>
              <a:rPr lang="en-US" sz="1700" dirty="0">
                <a:solidFill>
                  <a:srgbClr val="BDD78F"/>
                </a:solidFill>
                <a:latin typeface="Arial" pitchFamily="34" charset="0"/>
                <a:ea typeface="Arial" pitchFamily="34" charset="-122"/>
                <a:cs typeface="Arial" pitchFamily="34" charset="-120"/>
              </a:rPr>
              <a:t>Aceve Preboarding &amp; Onboarding Portal — the problem, and how it can be solved</a:t>
            </a:r>
            <a:endParaRPr lang="en-US" sz="1700" dirty="0"/>
          </a:p>
        </p:txBody>
      </p:sp>
      <p:sp>
        <p:nvSpPr>
          <p:cNvPr id="6" name="title-meta"/>
          <p:cNvSpPr/>
          <p:nvPr/>
        </p:nvSpPr>
        <p:spPr>
          <a:xfrm>
            <a:off x="640080" y="4297680"/>
            <a:ext cx="7863840" cy="274320"/>
          </a:xfrm>
          <a:prstGeom prst="rect">
            <a:avLst/>
          </a:prstGeom>
          <a:noFill/>
          <a:ln/>
        </p:spPr>
        <p:txBody>
          <a:bodyPr wrap="square" lIns="0" tIns="0" rIns="0" bIns="0" rtlCol="0" anchor="ctr"/>
          <a:lstStyle/>
          <a:p>
            <a:pPr indent="0" marL="0">
              <a:buNone/>
            </a:pPr>
            <a:r>
              <a:rPr lang="en-US" sz="1000" dirty="0">
                <a:solidFill>
                  <a:srgbClr val="BDD78F"/>
                </a:solidFill>
                <a:latin typeface="Arial" pitchFamily="34" charset="0"/>
                <a:ea typeface="Arial" pitchFamily="34" charset="-122"/>
                <a:cs typeface="Arial" pitchFamily="34" charset="-120"/>
              </a:rPr>
              <a:t>Aceve · Professional Services · Carl Bäckström · 2026-08-18</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Four things</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agenda-num-bg-0"/>
          <p:cNvSpPr/>
          <p:nvPr/>
        </p:nvSpPr>
        <p:spPr>
          <a:xfrm>
            <a:off x="640080" y="1115568"/>
            <a:ext cx="374904" cy="822960"/>
          </a:xfrm>
          <a:prstGeom prst="rect">
            <a:avLst/>
          </a:prstGeom>
          <a:solidFill>
            <a:srgbClr val="BDD78F"/>
          </a:solidFill>
          <a:ln/>
        </p:spPr>
      </p:sp>
      <p:sp>
        <p:nvSpPr>
          <p:cNvPr id="6" name="agenda-num-0"/>
          <p:cNvSpPr/>
          <p:nvPr/>
        </p:nvSpPr>
        <p:spPr>
          <a:xfrm>
            <a:off x="640080" y="1115568"/>
            <a:ext cx="374904" cy="822960"/>
          </a:xfrm>
          <a:prstGeom prst="rect">
            <a:avLst/>
          </a:prstGeom>
          <a:noFill/>
          <a:ln/>
        </p:spPr>
        <p:txBody>
          <a:bodyPr wrap="square" lIns="0" tIns="0" rIns="0" bIns="0" rtlCol="0" anchor="ctr"/>
          <a:lstStyle/>
          <a:p>
            <a:pPr algn="ctr" indent="0" marL="0">
              <a:buNone/>
            </a:pPr>
            <a:r>
              <a:rPr lang="en-US" sz="1600" b="1" dirty="0">
                <a:solidFill>
                  <a:srgbClr val="152F1A"/>
                </a:solidFill>
                <a:latin typeface="Arial" pitchFamily="34" charset="0"/>
                <a:ea typeface="Arial" pitchFamily="34" charset="-122"/>
                <a:cs typeface="Arial" pitchFamily="34" charset="-120"/>
              </a:rPr>
              <a:t>1</a:t>
            </a:r>
            <a:endParaRPr lang="en-US" sz="1600" dirty="0"/>
          </a:p>
        </p:txBody>
      </p:sp>
      <p:sp>
        <p:nvSpPr>
          <p:cNvPr id="7" name="agenda-item-0"/>
          <p:cNvSpPr/>
          <p:nvPr/>
        </p:nvSpPr>
        <p:spPr>
          <a:xfrm>
            <a:off x="1097280" y="1188720"/>
            <a:ext cx="7406640" cy="685800"/>
          </a:xfrm>
          <a:prstGeom prst="rect">
            <a:avLst/>
          </a:prstGeom>
          <a:noFill/>
          <a:ln/>
        </p:spPr>
        <p:txBody>
          <a:bodyPr wrap="square" lIns="0" tIns="0" rIns="0" bIns="0" rtlCol="0" anchor="ctr"/>
          <a:lstStyle/>
          <a:p>
            <a:pPr indent="0" marL="0">
              <a:buNone/>
            </a:pPr>
            <a:r>
              <a:rPr lang="en-US" sz="1500" dirty="0">
                <a:solidFill>
                  <a:srgbClr val="24462B"/>
                </a:solidFill>
                <a:latin typeface="Arial" pitchFamily="34" charset="0"/>
                <a:ea typeface="Arial" pitchFamily="34" charset="-122"/>
                <a:cs typeface="Arial" pitchFamily="34" charset="-120"/>
              </a:rPr>
              <a:t>The problem — capacity, not demand, limits how fast we onboard</a:t>
            </a:r>
            <a:endParaRPr lang="en-US" sz="1500" dirty="0"/>
          </a:p>
        </p:txBody>
      </p:sp>
      <p:sp>
        <p:nvSpPr>
          <p:cNvPr id="8" name="agenda-rule-0"/>
          <p:cNvSpPr/>
          <p:nvPr/>
        </p:nvSpPr>
        <p:spPr>
          <a:xfrm>
            <a:off x="640080" y="1938528"/>
            <a:ext cx="7863840" cy="0"/>
          </a:xfrm>
          <a:prstGeom prst="line">
            <a:avLst/>
          </a:prstGeom>
          <a:noFill/>
          <a:ln w="6350">
            <a:solidFill>
              <a:srgbClr val="D6D1CE"/>
            </a:solidFill>
            <a:prstDash val="solid"/>
          </a:ln>
        </p:spPr>
      </p:sp>
      <p:sp>
        <p:nvSpPr>
          <p:cNvPr id="9" name="agenda-num-bg-1"/>
          <p:cNvSpPr/>
          <p:nvPr/>
        </p:nvSpPr>
        <p:spPr>
          <a:xfrm>
            <a:off x="640080" y="2002536"/>
            <a:ext cx="374904" cy="822960"/>
          </a:xfrm>
          <a:prstGeom prst="rect">
            <a:avLst/>
          </a:prstGeom>
          <a:solidFill>
            <a:srgbClr val="BDD78F"/>
          </a:solidFill>
          <a:ln/>
        </p:spPr>
      </p:sp>
      <p:sp>
        <p:nvSpPr>
          <p:cNvPr id="10" name="agenda-num-1"/>
          <p:cNvSpPr/>
          <p:nvPr/>
        </p:nvSpPr>
        <p:spPr>
          <a:xfrm>
            <a:off x="640080" y="2002536"/>
            <a:ext cx="374904" cy="822960"/>
          </a:xfrm>
          <a:prstGeom prst="rect">
            <a:avLst/>
          </a:prstGeom>
          <a:noFill/>
          <a:ln/>
        </p:spPr>
        <p:txBody>
          <a:bodyPr wrap="square" lIns="0" tIns="0" rIns="0" bIns="0" rtlCol="0" anchor="ctr"/>
          <a:lstStyle/>
          <a:p>
            <a:pPr algn="ctr" indent="0" marL="0">
              <a:buNone/>
            </a:pPr>
            <a:r>
              <a:rPr lang="en-US" sz="1600" b="1" dirty="0">
                <a:solidFill>
                  <a:srgbClr val="152F1A"/>
                </a:solidFill>
                <a:latin typeface="Arial" pitchFamily="34" charset="0"/>
                <a:ea typeface="Arial" pitchFamily="34" charset="-122"/>
                <a:cs typeface="Arial" pitchFamily="34" charset="-120"/>
              </a:rPr>
              <a:t>2</a:t>
            </a:r>
            <a:endParaRPr lang="en-US" sz="1600" dirty="0"/>
          </a:p>
        </p:txBody>
      </p:sp>
      <p:sp>
        <p:nvSpPr>
          <p:cNvPr id="11" name="agenda-item-1"/>
          <p:cNvSpPr/>
          <p:nvPr/>
        </p:nvSpPr>
        <p:spPr>
          <a:xfrm>
            <a:off x="1097280" y="2075688"/>
            <a:ext cx="7406640" cy="685800"/>
          </a:xfrm>
          <a:prstGeom prst="rect">
            <a:avLst/>
          </a:prstGeom>
          <a:noFill/>
          <a:ln/>
        </p:spPr>
        <p:txBody>
          <a:bodyPr wrap="square" lIns="0" tIns="0" rIns="0" bIns="0" rtlCol="0" anchor="ctr"/>
          <a:lstStyle/>
          <a:p>
            <a:pPr indent="0" marL="0">
              <a:buNone/>
            </a:pPr>
            <a:r>
              <a:rPr lang="en-US" sz="1500" dirty="0">
                <a:solidFill>
                  <a:srgbClr val="24462B"/>
                </a:solidFill>
                <a:latin typeface="Arial" pitchFamily="34" charset="0"/>
                <a:ea typeface="Arial" pitchFamily="34" charset="-122"/>
                <a:cs typeface="Arial" pitchFamily="34" charset="-120"/>
              </a:rPr>
              <a:t>Why it is an Aceve problem, not a BSO or Next problem</a:t>
            </a:r>
            <a:endParaRPr lang="en-US" sz="1500" dirty="0"/>
          </a:p>
        </p:txBody>
      </p:sp>
      <p:sp>
        <p:nvSpPr>
          <p:cNvPr id="12" name="agenda-rule-1"/>
          <p:cNvSpPr/>
          <p:nvPr/>
        </p:nvSpPr>
        <p:spPr>
          <a:xfrm>
            <a:off x="640080" y="2825496"/>
            <a:ext cx="7863840" cy="0"/>
          </a:xfrm>
          <a:prstGeom prst="line">
            <a:avLst/>
          </a:prstGeom>
          <a:noFill/>
          <a:ln w="6350">
            <a:solidFill>
              <a:srgbClr val="D6D1CE"/>
            </a:solidFill>
            <a:prstDash val="solid"/>
          </a:ln>
        </p:spPr>
      </p:sp>
      <p:sp>
        <p:nvSpPr>
          <p:cNvPr id="13" name="agenda-num-bg-2"/>
          <p:cNvSpPr/>
          <p:nvPr/>
        </p:nvSpPr>
        <p:spPr>
          <a:xfrm>
            <a:off x="640080" y="2889504"/>
            <a:ext cx="374904" cy="822960"/>
          </a:xfrm>
          <a:prstGeom prst="rect">
            <a:avLst/>
          </a:prstGeom>
          <a:solidFill>
            <a:srgbClr val="BDD78F"/>
          </a:solidFill>
          <a:ln/>
        </p:spPr>
      </p:sp>
      <p:sp>
        <p:nvSpPr>
          <p:cNvPr id="14" name="agenda-num-2"/>
          <p:cNvSpPr/>
          <p:nvPr/>
        </p:nvSpPr>
        <p:spPr>
          <a:xfrm>
            <a:off x="640080" y="2889504"/>
            <a:ext cx="374904" cy="822960"/>
          </a:xfrm>
          <a:prstGeom prst="rect">
            <a:avLst/>
          </a:prstGeom>
          <a:noFill/>
          <a:ln/>
        </p:spPr>
        <p:txBody>
          <a:bodyPr wrap="square" lIns="0" tIns="0" rIns="0" bIns="0" rtlCol="0" anchor="ctr"/>
          <a:lstStyle/>
          <a:p>
            <a:pPr algn="ctr" indent="0" marL="0">
              <a:buNone/>
            </a:pPr>
            <a:r>
              <a:rPr lang="en-US" sz="1600" b="1" dirty="0">
                <a:solidFill>
                  <a:srgbClr val="152F1A"/>
                </a:solidFill>
                <a:latin typeface="Arial" pitchFamily="34" charset="0"/>
                <a:ea typeface="Arial" pitchFamily="34" charset="-122"/>
                <a:cs typeface="Arial" pitchFamily="34" charset="-120"/>
              </a:rPr>
              <a:t>3</a:t>
            </a:r>
            <a:endParaRPr lang="en-US" sz="1600" dirty="0"/>
          </a:p>
        </p:txBody>
      </p:sp>
      <p:sp>
        <p:nvSpPr>
          <p:cNvPr id="15" name="agenda-item-2"/>
          <p:cNvSpPr/>
          <p:nvPr/>
        </p:nvSpPr>
        <p:spPr>
          <a:xfrm>
            <a:off x="1097280" y="2962656"/>
            <a:ext cx="7406640" cy="685800"/>
          </a:xfrm>
          <a:prstGeom prst="rect">
            <a:avLst/>
          </a:prstGeom>
          <a:noFill/>
          <a:ln/>
        </p:spPr>
        <p:txBody>
          <a:bodyPr wrap="square" lIns="0" tIns="0" rIns="0" bIns="0" rtlCol="0" anchor="ctr"/>
          <a:lstStyle/>
          <a:p>
            <a:pPr indent="0" marL="0">
              <a:buNone/>
            </a:pPr>
            <a:r>
              <a:rPr lang="en-US" sz="1500" dirty="0">
                <a:solidFill>
                  <a:srgbClr val="24462B"/>
                </a:solidFill>
                <a:latin typeface="Arial" pitchFamily="34" charset="0"/>
                <a:ea typeface="Arial" pitchFamily="34" charset="-122"/>
                <a:cs typeface="Arial" pitchFamily="34" charset="-120"/>
              </a:rPr>
              <a:t>How it can be solved — a portal that exists before the product does</a:t>
            </a:r>
            <a:endParaRPr lang="en-US" sz="1500" dirty="0"/>
          </a:p>
        </p:txBody>
      </p:sp>
      <p:sp>
        <p:nvSpPr>
          <p:cNvPr id="16" name="agenda-rule-2"/>
          <p:cNvSpPr/>
          <p:nvPr/>
        </p:nvSpPr>
        <p:spPr>
          <a:xfrm>
            <a:off x="640080" y="3712464"/>
            <a:ext cx="7863840" cy="0"/>
          </a:xfrm>
          <a:prstGeom prst="line">
            <a:avLst/>
          </a:prstGeom>
          <a:noFill/>
          <a:ln w="6350">
            <a:solidFill>
              <a:srgbClr val="D6D1CE"/>
            </a:solidFill>
            <a:prstDash val="solid"/>
          </a:ln>
        </p:spPr>
      </p:sp>
      <p:sp>
        <p:nvSpPr>
          <p:cNvPr id="17" name="agenda-num-bg-3"/>
          <p:cNvSpPr/>
          <p:nvPr/>
        </p:nvSpPr>
        <p:spPr>
          <a:xfrm>
            <a:off x="640080" y="3776472"/>
            <a:ext cx="374904" cy="822960"/>
          </a:xfrm>
          <a:prstGeom prst="rect">
            <a:avLst/>
          </a:prstGeom>
          <a:solidFill>
            <a:srgbClr val="BDD78F"/>
          </a:solidFill>
          <a:ln/>
        </p:spPr>
      </p:sp>
      <p:sp>
        <p:nvSpPr>
          <p:cNvPr id="18" name="agenda-num-3"/>
          <p:cNvSpPr/>
          <p:nvPr/>
        </p:nvSpPr>
        <p:spPr>
          <a:xfrm>
            <a:off x="640080" y="3776472"/>
            <a:ext cx="374904" cy="822960"/>
          </a:xfrm>
          <a:prstGeom prst="rect">
            <a:avLst/>
          </a:prstGeom>
          <a:noFill/>
          <a:ln/>
        </p:spPr>
        <p:txBody>
          <a:bodyPr wrap="square" lIns="0" tIns="0" rIns="0" bIns="0" rtlCol="0" anchor="ctr"/>
          <a:lstStyle/>
          <a:p>
            <a:pPr algn="ctr" indent="0" marL="0">
              <a:buNone/>
            </a:pPr>
            <a:r>
              <a:rPr lang="en-US" sz="1600" b="1" dirty="0">
                <a:solidFill>
                  <a:srgbClr val="152F1A"/>
                </a:solidFill>
                <a:latin typeface="Arial" pitchFamily="34" charset="0"/>
                <a:ea typeface="Arial" pitchFamily="34" charset="-122"/>
                <a:cs typeface="Arial" pitchFamily="34" charset="-120"/>
              </a:rPr>
              <a:t>4</a:t>
            </a:r>
            <a:endParaRPr lang="en-US" sz="1600" dirty="0"/>
          </a:p>
        </p:txBody>
      </p:sp>
      <p:sp>
        <p:nvSpPr>
          <p:cNvPr id="19" name="agenda-item-3"/>
          <p:cNvSpPr/>
          <p:nvPr/>
        </p:nvSpPr>
        <p:spPr>
          <a:xfrm>
            <a:off x="1097280" y="3849624"/>
            <a:ext cx="7406640" cy="685800"/>
          </a:xfrm>
          <a:prstGeom prst="rect">
            <a:avLst/>
          </a:prstGeom>
          <a:noFill/>
          <a:ln/>
        </p:spPr>
        <p:txBody>
          <a:bodyPr wrap="square" lIns="0" tIns="0" rIns="0" bIns="0" rtlCol="0" anchor="ctr"/>
          <a:lstStyle/>
          <a:p>
            <a:pPr indent="0" marL="0">
              <a:buNone/>
            </a:pPr>
            <a:r>
              <a:rPr lang="en-US" sz="1500" dirty="0">
                <a:solidFill>
                  <a:srgbClr val="24462B"/>
                </a:solidFill>
                <a:latin typeface="Arial" pitchFamily="34" charset="0"/>
                <a:ea typeface="Arial" pitchFamily="34" charset="-122"/>
                <a:cs typeface="Arial" pitchFamily="34" charset="-120"/>
              </a:rPr>
              <a:t>What we already have, and the three things that are missing</a:t>
            </a:r>
            <a:endParaRPr lang="en-US" sz="1500" dirty="0"/>
          </a:p>
        </p:txBody>
      </p:sp>
      <p:sp>
        <p:nvSpPr>
          <p:cNvPr id="20" name="agenda-rule-3"/>
          <p:cNvSpPr/>
          <p:nvPr/>
        </p:nvSpPr>
        <p:spPr>
          <a:xfrm>
            <a:off x="640080" y="4599432"/>
            <a:ext cx="7863840" cy="0"/>
          </a:xfrm>
          <a:prstGeom prst="line">
            <a:avLst/>
          </a:prstGeom>
          <a:noFill/>
          <a:ln w="6350">
            <a:solidFill>
              <a:srgbClr val="D6D1CE"/>
            </a:solidFill>
            <a:prstDash val="solid"/>
          </a:ln>
        </p:spPr>
      </p:sp>
      <p:sp>
        <p:nvSpPr>
          <p:cNvPr id="21"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22"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2F1A"/>
        </a:solidFill>
      </p:bgPr>
    </p:bg>
    <p:spTree>
      <p:nvGrpSpPr>
        <p:cNvPr id="1" name=""/>
        <p:cNvGrpSpPr/>
        <p:nvPr/>
      </p:nvGrpSpPr>
      <p:grpSpPr>
        <a:xfrm>
          <a:off x="0" y="0"/>
          <a:ext cx="0" cy="0"/>
          <a:chOff x="0" y="0"/>
          <a:chExt cx="0" cy="0"/>
        </a:xfrm>
      </p:grpSpPr>
      <p:sp>
        <p:nvSpPr>
          <p:cNvPr id="2" name="section-bar"/>
          <p:cNvSpPr/>
          <p:nvPr/>
        </p:nvSpPr>
        <p:spPr>
          <a:xfrm>
            <a:off x="0" y="0"/>
            <a:ext cx="164592" cy="5143500"/>
          </a:xfrm>
          <a:prstGeom prst="rect">
            <a:avLst/>
          </a:prstGeom>
          <a:solidFill>
            <a:srgbClr val="BDD78F"/>
          </a:solidFill>
          <a:ln/>
        </p:spPr>
      </p:sp>
      <p:sp>
        <p:nvSpPr>
          <p:cNvPr id="3" name="section-strip"/>
          <p:cNvSpPr/>
          <p:nvPr/>
        </p:nvSpPr>
        <p:spPr>
          <a:xfrm>
            <a:off x="0" y="4754880"/>
            <a:ext cx="9144000" cy="73152"/>
          </a:xfrm>
          <a:prstGeom prst="rect">
            <a:avLst/>
          </a:prstGeom>
          <a:solidFill>
            <a:srgbClr val="BDD78F"/>
          </a:solidFill>
          <a:ln/>
        </p:spPr>
      </p:sp>
      <p:sp>
        <p:nvSpPr>
          <p:cNvPr id="4" name="section-label"/>
          <p:cNvSpPr/>
          <p:nvPr/>
        </p:nvSpPr>
        <p:spPr>
          <a:xfrm>
            <a:off x="640080" y="1371600"/>
            <a:ext cx="7863840" cy="274320"/>
          </a:xfrm>
          <a:prstGeom prst="rect">
            <a:avLst/>
          </a:prstGeom>
          <a:noFill/>
          <a:ln/>
        </p:spPr>
        <p:txBody>
          <a:bodyPr wrap="square" lIns="0" tIns="0" rIns="0" bIns="0" rtlCol="0" anchor="ctr"/>
          <a:lstStyle/>
          <a:p>
            <a:pPr indent="0" marL="0">
              <a:buNone/>
            </a:pPr>
            <a:r>
              <a:rPr lang="en-US" sz="1300" dirty="0">
                <a:solidFill>
                  <a:srgbClr val="BDD78F"/>
                </a:solidFill>
                <a:latin typeface="Arial" pitchFamily="34" charset="0"/>
                <a:ea typeface="Arial" pitchFamily="34" charset="-122"/>
                <a:cs typeface="Arial" pitchFamily="34" charset="-120"/>
              </a:rPr>
              <a:t>Part 01</a:t>
            </a:r>
            <a:endParaRPr lang="en-US" sz="1300" dirty="0"/>
          </a:p>
        </p:txBody>
      </p:sp>
      <p:sp>
        <p:nvSpPr>
          <p:cNvPr id="5" name="section-rule"/>
          <p:cNvSpPr/>
          <p:nvPr/>
        </p:nvSpPr>
        <p:spPr>
          <a:xfrm>
            <a:off x="640080" y="1691640"/>
            <a:ext cx="1828800" cy="36576"/>
          </a:xfrm>
          <a:prstGeom prst="rect">
            <a:avLst/>
          </a:prstGeom>
          <a:solidFill>
            <a:srgbClr val="BDD78F"/>
          </a:solidFill>
          <a:ln w="12700">
            <a:solidFill>
              <a:srgbClr val="BDD78F"/>
            </a:solidFill>
            <a:prstDash val="solid"/>
          </a:ln>
        </p:spPr>
      </p:sp>
      <p:sp>
        <p:nvSpPr>
          <p:cNvPr id="6" name="section-title"/>
          <p:cNvSpPr/>
          <p:nvPr/>
        </p:nvSpPr>
        <p:spPr>
          <a:xfrm>
            <a:off x="640080" y="1783080"/>
            <a:ext cx="7863840" cy="11887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problem</a:t>
            </a:r>
            <a:endParaRPr lang="en-US" sz="3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PS capacity, not demand, sets the pace</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slide-body"/>
          <p:cNvSpPr/>
          <p:nvPr/>
        </p:nvSpPr>
        <p:spPr>
          <a:xfrm>
            <a:off x="640080" y="1051560"/>
            <a:ext cx="7863840" cy="3657600"/>
          </a:xfrm>
          <a:prstGeom prst="rect">
            <a:avLst/>
          </a:prstGeom>
          <a:noFill/>
          <a:ln/>
        </p:spPr>
        <p:txBody>
          <a:bodyPr wrap="square" rtlCol="0" anchor="t"/>
          <a:lstStyle/>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The cost of onboarding a customer is consultant time — and it is roughly the same amount of time for every customer</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Consultant time does not scale. Hiring is the only lever we have today, and it is the slowest one</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So the queue length is set by how many people we have, not by how many customers want to start</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Every product, every country and every new legacy source we migrate from hits the same wall</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Nothing about that is specific to one migration programme — which is why the fix has to be a capability, not a project</a:t>
            </a:r>
            <a:endParaRPr lang="en-US" sz="1600" dirty="0"/>
          </a:p>
        </p:txBody>
      </p:sp>
      <p:sp>
        <p:nvSpPr>
          <p:cNvPr id="6"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7"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Where the consultant hours actually go</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col-left-bg"/>
          <p:cNvSpPr/>
          <p:nvPr/>
        </p:nvSpPr>
        <p:spPr>
          <a:xfrm>
            <a:off x="640080" y="1051560"/>
            <a:ext cx="3749040" cy="347472"/>
          </a:xfrm>
          <a:prstGeom prst="rect">
            <a:avLst/>
          </a:prstGeom>
          <a:solidFill>
            <a:srgbClr val="BDD78F"/>
          </a:solidFill>
          <a:ln/>
        </p:spPr>
      </p:sp>
      <p:sp>
        <p:nvSpPr>
          <p:cNvPr id="6" name="col-left-header"/>
          <p:cNvSpPr/>
          <p:nvPr/>
        </p:nvSpPr>
        <p:spPr>
          <a:xfrm>
            <a:off x="640080" y="1051560"/>
            <a:ext cx="3749040" cy="347472"/>
          </a:xfrm>
          <a:prstGeom prst="rect">
            <a:avLst/>
          </a:prstGeom>
          <a:noFill/>
          <a:ln/>
        </p:spPr>
        <p:txBody>
          <a:bodyPr wrap="square" lIns="0" tIns="0" rIns="0" bIns="0" rtlCol="0" anchor="ctr"/>
          <a:lstStyle/>
          <a:p>
            <a:pPr algn="ctr" indent="0" marL="0">
              <a:buNone/>
            </a:pPr>
            <a:r>
              <a:rPr lang="en-US" sz="1500" b="1" dirty="0">
                <a:solidFill>
                  <a:srgbClr val="152F1A"/>
                </a:solidFill>
                <a:latin typeface="Arial" pitchFamily="34" charset="0"/>
                <a:ea typeface="Arial" pitchFamily="34" charset="-122"/>
                <a:cs typeface="Arial" pitchFamily="34" charset="-120"/>
              </a:rPr>
              <a:t>Automatic today</a:t>
            </a:r>
            <a:endParaRPr lang="en-US" sz="1500" dirty="0"/>
          </a:p>
        </p:txBody>
      </p:sp>
      <p:sp>
        <p:nvSpPr>
          <p:cNvPr id="7" name="col-left-body"/>
          <p:cNvSpPr/>
          <p:nvPr/>
        </p:nvSpPr>
        <p:spPr>
          <a:xfrm>
            <a:off x="640080" y="1463040"/>
            <a:ext cx="3749040" cy="3200400"/>
          </a:xfrm>
          <a:prstGeom prst="rect">
            <a:avLst/>
          </a:prstGeom>
          <a:noFill/>
          <a:ln/>
        </p:spPr>
        <p:txBody>
          <a:bodyPr wrap="square" rtlCol="0" anchor="t"/>
          <a:lstStyle/>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A minority of data categories import cleanly with the tooling we have</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Those are the ones nobody talks about, because they cost nothing</a:t>
            </a:r>
            <a:endParaRPr lang="en-US" sz="1400" dirty="0"/>
          </a:p>
        </p:txBody>
      </p:sp>
      <p:sp>
        <p:nvSpPr>
          <p:cNvPr id="8" name="col-right-bg"/>
          <p:cNvSpPr/>
          <p:nvPr/>
        </p:nvSpPr>
        <p:spPr>
          <a:xfrm>
            <a:off x="4663440" y="1051560"/>
            <a:ext cx="3749040" cy="347472"/>
          </a:xfrm>
          <a:prstGeom prst="rect">
            <a:avLst/>
          </a:prstGeom>
          <a:solidFill>
            <a:srgbClr val="457951"/>
          </a:solidFill>
          <a:ln/>
        </p:spPr>
      </p:sp>
      <p:sp>
        <p:nvSpPr>
          <p:cNvPr id="9" name="col-right-header"/>
          <p:cNvSpPr/>
          <p:nvPr/>
        </p:nvSpPr>
        <p:spPr>
          <a:xfrm>
            <a:off x="4663440" y="1051560"/>
            <a:ext cx="3749040"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Manual or conditional today</a:t>
            </a:r>
            <a:endParaRPr lang="en-US" sz="1500" dirty="0"/>
          </a:p>
        </p:txBody>
      </p:sp>
      <p:sp>
        <p:nvSpPr>
          <p:cNvPr id="10" name="col-right-body"/>
          <p:cNvSpPr/>
          <p:nvPr/>
        </p:nvSpPr>
        <p:spPr>
          <a:xfrm>
            <a:off x="4663440" y="1463040"/>
            <a:ext cx="3749040" cy="3200400"/>
          </a:xfrm>
          <a:prstGeom prst="rect">
            <a:avLst/>
          </a:prstGeom>
          <a:noFill/>
          <a:ln/>
        </p:spPr>
        <p:txBody>
          <a:bodyPr wrap="square" rtlCol="0" anchor="t"/>
          <a:lstStyle/>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Most categories: someone reads the customer’s export, decides what each column means, fixes it, and tries the import</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The same interpretation work is redone for the next customer on the same legacy system</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Errors surface at import rather than at entry, so a failed load costs a second round</a:t>
            </a:r>
            <a:endParaRPr lang="en-US" sz="1400" dirty="0"/>
          </a:p>
        </p:txBody>
      </p:sp>
      <p:sp>
        <p:nvSpPr>
          <p:cNvPr id="11"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12"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Today’s tools cannot hold the work</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col-left-bg"/>
          <p:cNvSpPr/>
          <p:nvPr/>
        </p:nvSpPr>
        <p:spPr>
          <a:xfrm>
            <a:off x="640080" y="1051560"/>
            <a:ext cx="3749040" cy="347472"/>
          </a:xfrm>
          <a:prstGeom prst="rect">
            <a:avLst/>
          </a:prstGeom>
          <a:solidFill>
            <a:srgbClr val="BDD78F"/>
          </a:solidFill>
          <a:ln/>
        </p:spPr>
      </p:sp>
      <p:sp>
        <p:nvSpPr>
          <p:cNvPr id="6" name="col-left-header"/>
          <p:cNvSpPr/>
          <p:nvPr/>
        </p:nvSpPr>
        <p:spPr>
          <a:xfrm>
            <a:off x="640080" y="1051560"/>
            <a:ext cx="3749040" cy="347472"/>
          </a:xfrm>
          <a:prstGeom prst="rect">
            <a:avLst/>
          </a:prstGeom>
          <a:noFill/>
          <a:ln/>
        </p:spPr>
        <p:txBody>
          <a:bodyPr wrap="square" lIns="0" tIns="0" rIns="0" bIns="0" rtlCol="0" anchor="ctr"/>
          <a:lstStyle/>
          <a:p>
            <a:pPr algn="ctr" indent="0" marL="0">
              <a:buNone/>
            </a:pPr>
            <a:r>
              <a:rPr lang="en-US" sz="1500" b="1" dirty="0">
                <a:solidFill>
                  <a:srgbClr val="152F1A"/>
                </a:solidFill>
                <a:latin typeface="Arial" pitchFamily="34" charset="0"/>
                <a:ea typeface="Arial" pitchFamily="34" charset="-122"/>
                <a:cs typeface="Arial" pitchFamily="34" charset="-120"/>
              </a:rPr>
              <a:t>How it works today</a:t>
            </a:r>
            <a:endParaRPr lang="en-US" sz="1500" dirty="0"/>
          </a:p>
        </p:txBody>
      </p:sp>
      <p:sp>
        <p:nvSpPr>
          <p:cNvPr id="7" name="col-left-body"/>
          <p:cNvSpPr/>
          <p:nvPr/>
        </p:nvSpPr>
        <p:spPr>
          <a:xfrm>
            <a:off x="640080" y="1463040"/>
            <a:ext cx="3749040" cy="3200400"/>
          </a:xfrm>
          <a:prstGeom prst="rect">
            <a:avLst/>
          </a:prstGeom>
          <a:noFill/>
          <a:ln/>
        </p:spPr>
        <p:txBody>
          <a:bodyPr wrap="square" rtlCol="0" anchor="t"/>
          <a:lstStyle/>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An Excel template (GI-mall) mailed back and forth</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A per-customer HTML file generated by a consultant; state lives in one browser's localStorage</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BSO export means a consultant running an unsigned Windows executable in a remote session</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Completion is a mailto that hopefully becomes a ticket</a:t>
            </a:r>
            <a:endParaRPr lang="en-US" sz="1400" dirty="0"/>
          </a:p>
        </p:txBody>
      </p:sp>
      <p:sp>
        <p:nvSpPr>
          <p:cNvPr id="8" name="col-right-bg"/>
          <p:cNvSpPr/>
          <p:nvPr/>
        </p:nvSpPr>
        <p:spPr>
          <a:xfrm>
            <a:off x="4663440" y="1051560"/>
            <a:ext cx="3749040" cy="347472"/>
          </a:xfrm>
          <a:prstGeom prst="rect">
            <a:avLst/>
          </a:prstGeom>
          <a:solidFill>
            <a:srgbClr val="457951"/>
          </a:solidFill>
          <a:ln/>
        </p:spPr>
      </p:sp>
      <p:sp>
        <p:nvSpPr>
          <p:cNvPr id="9" name="col-right-header"/>
          <p:cNvSpPr/>
          <p:nvPr/>
        </p:nvSpPr>
        <p:spPr>
          <a:xfrm>
            <a:off x="4663440" y="1051560"/>
            <a:ext cx="3749040"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Why that breaks</a:t>
            </a:r>
            <a:endParaRPr lang="en-US" sz="1500" dirty="0"/>
          </a:p>
        </p:txBody>
      </p:sp>
      <p:sp>
        <p:nvSpPr>
          <p:cNvPr id="10" name="col-right-body"/>
          <p:cNvSpPr/>
          <p:nvPr/>
        </p:nvSpPr>
        <p:spPr>
          <a:xfrm>
            <a:off x="4663440" y="1463040"/>
            <a:ext cx="3749040" cy="3200400"/>
          </a:xfrm>
          <a:prstGeom prst="rect">
            <a:avLst/>
          </a:prstGeom>
          <a:noFill/>
          <a:ln/>
        </p:spPr>
        <p:txBody>
          <a:bodyPr wrap="square" rtlCol="0" anchor="t"/>
          <a:lstStyle/>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Several superusers cannot see each other's progress — the one requirement that killed the shipped tool</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We have no shared view of where a customer is, or what they are waiting for</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Nothing is reusable: every customer's mapping work is discovered from scratch</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Errors surface at import, not at entry</a:t>
            </a:r>
            <a:endParaRPr lang="en-US" sz="1400" dirty="0"/>
          </a:p>
        </p:txBody>
      </p:sp>
      <p:sp>
        <p:nvSpPr>
          <p:cNvPr id="11"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12"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An Aceve capability, not a Next project</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slide-body"/>
          <p:cNvSpPr/>
          <p:nvPr/>
        </p:nvSpPr>
        <p:spPr>
          <a:xfrm>
            <a:off x="640080" y="1051560"/>
            <a:ext cx="7863840" cy="3657600"/>
          </a:xfrm>
          <a:prstGeom prst="rect">
            <a:avLst/>
          </a:prstGeom>
          <a:noFill/>
          <a:ln/>
        </p:spPr>
        <p:txBody>
          <a:bodyPr wrap="square" rtlCol="0" anchor="t"/>
          <a:lstStyle/>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BSO → Next is case one because it is acute, not because it is the reason to build</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The problem is structural and identical across the portfolio: prepare a customer, collect their data, get it clean, get it in</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Entré Office has expressed interest — verbally so far, not yet in writing (Carl, 2026-08-18)</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Buy-in from other product teams is the scarce resource here. A Next-shaped tool loses it, so product-agnostic is a hard requirement, not an ambition</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Magnus Öhrman's own framing on 2026-08-10: the business value scales with the number of products it covers</a:t>
            </a:r>
            <a:endParaRPr lang="en-US" sz="1600" dirty="0"/>
          </a:p>
        </p:txBody>
      </p:sp>
      <p:sp>
        <p:nvSpPr>
          <p:cNvPr id="6"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7"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F1A"/>
        </a:solidFill>
      </p:bgPr>
    </p:bg>
    <p:spTree>
      <p:nvGrpSpPr>
        <p:cNvPr id="1" name=""/>
        <p:cNvGrpSpPr/>
        <p:nvPr/>
      </p:nvGrpSpPr>
      <p:grpSpPr>
        <a:xfrm>
          <a:off x="0" y="0"/>
          <a:ext cx="0" cy="0"/>
          <a:chOff x="0" y="0"/>
          <a:chExt cx="0" cy="0"/>
        </a:xfrm>
      </p:grpSpPr>
      <p:sp>
        <p:nvSpPr>
          <p:cNvPr id="2" name="section-bar"/>
          <p:cNvSpPr/>
          <p:nvPr/>
        </p:nvSpPr>
        <p:spPr>
          <a:xfrm>
            <a:off x="0" y="0"/>
            <a:ext cx="164592" cy="5143500"/>
          </a:xfrm>
          <a:prstGeom prst="rect">
            <a:avLst/>
          </a:prstGeom>
          <a:solidFill>
            <a:srgbClr val="BDD78F"/>
          </a:solidFill>
          <a:ln/>
        </p:spPr>
      </p:sp>
      <p:sp>
        <p:nvSpPr>
          <p:cNvPr id="3" name="section-strip"/>
          <p:cNvSpPr/>
          <p:nvPr/>
        </p:nvSpPr>
        <p:spPr>
          <a:xfrm>
            <a:off x="0" y="4754880"/>
            <a:ext cx="9144000" cy="73152"/>
          </a:xfrm>
          <a:prstGeom prst="rect">
            <a:avLst/>
          </a:prstGeom>
          <a:solidFill>
            <a:srgbClr val="BDD78F"/>
          </a:solidFill>
          <a:ln/>
        </p:spPr>
      </p:sp>
      <p:sp>
        <p:nvSpPr>
          <p:cNvPr id="4" name="section-label"/>
          <p:cNvSpPr/>
          <p:nvPr/>
        </p:nvSpPr>
        <p:spPr>
          <a:xfrm>
            <a:off x="640080" y="1371600"/>
            <a:ext cx="7863840" cy="274320"/>
          </a:xfrm>
          <a:prstGeom prst="rect">
            <a:avLst/>
          </a:prstGeom>
          <a:noFill/>
          <a:ln/>
        </p:spPr>
        <p:txBody>
          <a:bodyPr wrap="square" lIns="0" tIns="0" rIns="0" bIns="0" rtlCol="0" anchor="ctr"/>
          <a:lstStyle/>
          <a:p>
            <a:pPr indent="0" marL="0">
              <a:buNone/>
            </a:pPr>
            <a:r>
              <a:rPr lang="en-US" sz="1300" dirty="0">
                <a:solidFill>
                  <a:srgbClr val="BDD78F"/>
                </a:solidFill>
                <a:latin typeface="Arial" pitchFamily="34" charset="0"/>
                <a:ea typeface="Arial" pitchFamily="34" charset="-122"/>
                <a:cs typeface="Arial" pitchFamily="34" charset="-120"/>
              </a:rPr>
              <a:t>Part 02</a:t>
            </a:r>
            <a:endParaRPr lang="en-US" sz="1300" dirty="0"/>
          </a:p>
        </p:txBody>
      </p:sp>
      <p:sp>
        <p:nvSpPr>
          <p:cNvPr id="5" name="section-rule"/>
          <p:cNvSpPr/>
          <p:nvPr/>
        </p:nvSpPr>
        <p:spPr>
          <a:xfrm>
            <a:off x="640080" y="1691640"/>
            <a:ext cx="1828800" cy="36576"/>
          </a:xfrm>
          <a:prstGeom prst="rect">
            <a:avLst/>
          </a:prstGeom>
          <a:solidFill>
            <a:srgbClr val="BDD78F"/>
          </a:solidFill>
          <a:ln w="12700">
            <a:solidFill>
              <a:srgbClr val="BDD78F"/>
            </a:solidFill>
            <a:prstDash val="solid"/>
          </a:ln>
        </p:spPr>
      </p:sp>
      <p:sp>
        <p:nvSpPr>
          <p:cNvPr id="6" name="section-title"/>
          <p:cNvSpPr/>
          <p:nvPr/>
        </p:nvSpPr>
        <p:spPr>
          <a:xfrm>
            <a:off x="640080" y="1783080"/>
            <a:ext cx="7863840" cy="11887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it can be solved</a:t>
            </a:r>
            <a:endParaRPr lang="en-US" sz="3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A portal that exists before the product</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slide-body"/>
          <p:cNvSpPr/>
          <p:nvPr/>
        </p:nvSpPr>
        <p:spPr>
          <a:xfrm>
            <a:off x="640080" y="1051560"/>
            <a:ext cx="7863840" cy="3657600"/>
          </a:xfrm>
          <a:prstGeom prst="rect">
            <a:avLst/>
          </a:prstGeom>
          <a:noFill/>
          <a:ln/>
        </p:spPr>
        <p:txBody>
          <a:bodyPr wrap="square" rtlCol="0" anchor="t"/>
          <a:lstStyle/>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The customer logs in, works through preparation and their data step by step, saves progress — before an account, licence or database exists on our side</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The customer account is not bound to a product while the work happens; binding happens at go-live</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Preparation and data migration are one continuous flow, not two disconnected phases</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Several superusers work in parallel and see each other's progress; both sides see the same status throughout</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When the customer is done, our side is triggered automatically — exactly one ticket, carrying what the receiving side needs</a:t>
            </a:r>
            <a:endParaRPr lang="en-US" sz="1600" dirty="0"/>
          </a:p>
        </p:txBody>
      </p:sp>
      <p:sp>
        <p:nvSpPr>
          <p:cNvPr id="6"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7"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Three mechanisms do the work</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col-0-bar"/>
          <p:cNvSpPr/>
          <p:nvPr/>
        </p:nvSpPr>
        <p:spPr>
          <a:xfrm>
            <a:off x="640080" y="1115568"/>
            <a:ext cx="2496312" cy="64008"/>
          </a:xfrm>
          <a:prstGeom prst="rect">
            <a:avLst/>
          </a:prstGeom>
          <a:solidFill>
            <a:srgbClr val="BDD78F"/>
          </a:solidFill>
          <a:ln/>
        </p:spPr>
      </p:sp>
      <p:sp>
        <p:nvSpPr>
          <p:cNvPr id="6" name="col-0-header"/>
          <p:cNvSpPr/>
          <p:nvPr/>
        </p:nvSpPr>
        <p:spPr>
          <a:xfrm>
            <a:off x="640080" y="1234440"/>
            <a:ext cx="2496312" cy="365760"/>
          </a:xfrm>
          <a:prstGeom prst="rect">
            <a:avLst/>
          </a:prstGeom>
          <a:noFill/>
          <a:ln/>
        </p:spPr>
        <p:txBody>
          <a:bodyPr wrap="square" lIns="0" tIns="0" rIns="0" bIns="0" rtlCol="0" anchor="t"/>
          <a:lstStyle/>
          <a:p>
            <a:pPr indent="0" marL="0">
              <a:buNone/>
            </a:pPr>
            <a:r>
              <a:rPr lang="en-US" sz="1500" b="1" dirty="0">
                <a:solidFill>
                  <a:srgbClr val="152F1A"/>
                </a:solidFill>
                <a:latin typeface="Arial" pitchFamily="34" charset="0"/>
                <a:ea typeface="Arial" pitchFamily="34" charset="-122"/>
                <a:cs typeface="Arial" pitchFamily="34" charset="-120"/>
              </a:rPr>
              <a:t>Seed from Salesforce</a:t>
            </a:r>
            <a:endParaRPr lang="en-US" sz="1500" dirty="0"/>
          </a:p>
        </p:txBody>
      </p:sp>
      <p:sp>
        <p:nvSpPr>
          <p:cNvPr id="7" name="col-0-body"/>
          <p:cNvSpPr/>
          <p:nvPr/>
        </p:nvSpPr>
        <p:spPr>
          <a:xfrm>
            <a:off x="640080" y="1664208"/>
            <a:ext cx="2496312" cy="3017520"/>
          </a:xfrm>
          <a:prstGeom prst="rect">
            <a:avLst/>
          </a:prstGeom>
          <a:noFill/>
          <a:ln/>
        </p:spPr>
        <p:txBody>
          <a:bodyPr wrap="square" rtlCol="0" anchor="t"/>
          <a:lstStyle/>
          <a:p>
            <a:pPr indent="0" marL="0">
              <a:spcAft>
                <a:spcPts val="600"/>
              </a:spcAft>
              <a:buNone/>
            </a:pPr>
            <a:r>
              <a:rPr lang="en-US" sz="1300" dirty="0">
                <a:solidFill>
                  <a:srgbClr val="24462B"/>
                </a:solidFill>
                <a:latin typeface="Arial" pitchFamily="34" charset="0"/>
                <a:ea typeface="Arial" pitchFamily="34" charset="-122"/>
                <a:cs typeface="Arial" pitchFamily="34" charset="-120"/>
              </a:rPr>
              <a:t>Company data, contacts, region and deal stage flow in from Salesforce, and status and profile flow back. We never ask the customer for something we already hold. In Phase 1, not later.</a:t>
            </a:r>
            <a:endParaRPr lang="en-US" sz="1300" dirty="0"/>
          </a:p>
        </p:txBody>
      </p:sp>
      <p:sp>
        <p:nvSpPr>
          <p:cNvPr id="8" name="col-1-bar"/>
          <p:cNvSpPr/>
          <p:nvPr/>
        </p:nvSpPr>
        <p:spPr>
          <a:xfrm>
            <a:off x="3319272" y="1115568"/>
            <a:ext cx="2496312" cy="64008"/>
          </a:xfrm>
          <a:prstGeom prst="rect">
            <a:avLst/>
          </a:prstGeom>
          <a:solidFill>
            <a:srgbClr val="457951"/>
          </a:solidFill>
          <a:ln/>
        </p:spPr>
      </p:sp>
      <p:sp>
        <p:nvSpPr>
          <p:cNvPr id="9" name="col-1-header"/>
          <p:cNvSpPr/>
          <p:nvPr/>
        </p:nvSpPr>
        <p:spPr>
          <a:xfrm>
            <a:off x="3319272" y="1234440"/>
            <a:ext cx="2496312" cy="365760"/>
          </a:xfrm>
          <a:prstGeom prst="rect">
            <a:avLst/>
          </a:prstGeom>
          <a:noFill/>
          <a:ln/>
        </p:spPr>
        <p:txBody>
          <a:bodyPr wrap="square" lIns="0" tIns="0" rIns="0" bIns="0" rtlCol="0" anchor="t"/>
          <a:lstStyle/>
          <a:p>
            <a:pPr indent="0" marL="0">
              <a:buNone/>
            </a:pPr>
            <a:r>
              <a:rPr lang="en-US" sz="1500" b="1" dirty="0">
                <a:solidFill>
                  <a:srgbClr val="152F1A"/>
                </a:solidFill>
                <a:latin typeface="Arial" pitchFamily="34" charset="0"/>
                <a:ea typeface="Arial" pitchFamily="34" charset="-122"/>
                <a:cs typeface="Arial" pitchFamily="34" charset="-120"/>
              </a:rPr>
              <a:t>Customer-led migration</a:t>
            </a:r>
            <a:endParaRPr lang="en-US" sz="1500" dirty="0"/>
          </a:p>
        </p:txBody>
      </p:sp>
      <p:sp>
        <p:nvSpPr>
          <p:cNvPr id="10" name="col-1-body"/>
          <p:cNvSpPr/>
          <p:nvPr/>
        </p:nvSpPr>
        <p:spPr>
          <a:xfrm>
            <a:off x="3319272" y="1664208"/>
            <a:ext cx="2496312" cy="3017520"/>
          </a:xfrm>
          <a:prstGeom prst="rect">
            <a:avLst/>
          </a:prstGeom>
          <a:noFill/>
          <a:ln/>
        </p:spPr>
        <p:txBody>
          <a:bodyPr wrap="square" rtlCol="0" anchor="t"/>
          <a:lstStyle/>
          <a:p>
            <a:pPr indent="0" marL="0">
              <a:spcAft>
                <a:spcPts val="600"/>
              </a:spcAft>
              <a:buNone/>
            </a:pPr>
            <a:r>
              <a:rPr lang="en-US" sz="1300" dirty="0">
                <a:solidFill>
                  <a:srgbClr val="24462B"/>
                </a:solidFill>
                <a:latin typeface="Arial" pitchFamily="34" charset="0"/>
                <a:ea typeface="Arial" pitchFamily="34" charset="-122"/>
                <a:cs typeface="Arial" pitchFamily="34" charset="-120"/>
              </a:rPr>
              <a:t>The Ingestro Data Importer runs in the browser, proposes column mappings, validates per cell and unlocks the next category in sequence. AI proposes, rules execute, a human confirms before anything is written.</a:t>
            </a:r>
            <a:endParaRPr lang="en-US" sz="1300" dirty="0"/>
          </a:p>
        </p:txBody>
      </p:sp>
      <p:sp>
        <p:nvSpPr>
          <p:cNvPr id="11" name="col-2-bar"/>
          <p:cNvSpPr/>
          <p:nvPr/>
        </p:nvSpPr>
        <p:spPr>
          <a:xfrm>
            <a:off x="5998464" y="1115568"/>
            <a:ext cx="2496312" cy="64008"/>
          </a:xfrm>
          <a:prstGeom prst="rect">
            <a:avLst/>
          </a:prstGeom>
          <a:solidFill>
            <a:srgbClr val="152F1A"/>
          </a:solidFill>
          <a:ln/>
        </p:spPr>
      </p:sp>
      <p:sp>
        <p:nvSpPr>
          <p:cNvPr id="12" name="col-2-header"/>
          <p:cNvSpPr/>
          <p:nvPr/>
        </p:nvSpPr>
        <p:spPr>
          <a:xfrm>
            <a:off x="5998464" y="1234440"/>
            <a:ext cx="2496312" cy="365760"/>
          </a:xfrm>
          <a:prstGeom prst="rect">
            <a:avLst/>
          </a:prstGeom>
          <a:noFill/>
          <a:ln/>
        </p:spPr>
        <p:txBody>
          <a:bodyPr wrap="square" lIns="0" tIns="0" rIns="0" bIns="0" rtlCol="0" anchor="t"/>
          <a:lstStyle/>
          <a:p>
            <a:pPr indent="0" marL="0">
              <a:buNone/>
            </a:pPr>
            <a:r>
              <a:rPr lang="en-US" sz="1500" b="1" dirty="0">
                <a:solidFill>
                  <a:srgbClr val="152F1A"/>
                </a:solidFill>
                <a:latin typeface="Arial" pitchFamily="34" charset="0"/>
                <a:ea typeface="Arial" pitchFamily="34" charset="-122"/>
                <a:cs typeface="Arial" pitchFamily="34" charset="-120"/>
              </a:rPr>
              <a:t>One shared status</a:t>
            </a:r>
            <a:endParaRPr lang="en-US" sz="1500" dirty="0"/>
          </a:p>
        </p:txBody>
      </p:sp>
      <p:sp>
        <p:nvSpPr>
          <p:cNvPr id="13" name="col-2-body"/>
          <p:cNvSpPr/>
          <p:nvPr/>
        </p:nvSpPr>
        <p:spPr>
          <a:xfrm>
            <a:off x="5998464" y="1664208"/>
            <a:ext cx="2496312" cy="3017520"/>
          </a:xfrm>
          <a:prstGeom prst="rect">
            <a:avLst/>
          </a:prstGeom>
          <a:noFill/>
          <a:ln/>
        </p:spPr>
        <p:txBody>
          <a:bodyPr wrap="square" rtlCol="0" anchor="t"/>
          <a:lstStyle/>
          <a:p>
            <a:pPr indent="0" marL="0">
              <a:spcAft>
                <a:spcPts val="600"/>
              </a:spcAft>
              <a:buNone/>
            </a:pPr>
            <a:r>
              <a:rPr lang="en-US" sz="1300" dirty="0">
                <a:solidFill>
                  <a:srgbClr val="24462B"/>
                </a:solidFill>
                <a:latin typeface="Arial" pitchFamily="34" charset="0"/>
                <a:ea typeface="Arial" pitchFamily="34" charset="-122"/>
                <a:cs typeface="Arial" pitchFamily="34" charset="-120"/>
              </a:rPr>
              <a:t>Both sides see the same progress. Completion produces a single ticket. Internally we see which customers are where, and what they are waiting on.</a:t>
            </a:r>
            <a:endParaRPr lang="en-US" sz="1300" dirty="0"/>
          </a:p>
        </p:txBody>
      </p:sp>
      <p:sp>
        <p:nvSpPr>
          <p:cNvPr id="14"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15"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Configuration, not code, keeps it agnostic</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slide-body"/>
          <p:cNvSpPr/>
          <p:nvPr/>
        </p:nvSpPr>
        <p:spPr>
          <a:xfrm>
            <a:off x="640080" y="1051560"/>
            <a:ext cx="7863840" cy="3657600"/>
          </a:xfrm>
          <a:prstGeom prst="rect">
            <a:avLst/>
          </a:prstGeom>
          <a:noFill/>
          <a:ln/>
        </p:spPr>
        <p:txBody>
          <a:bodyPr wrap="square" rtlCol="0" anchor="t"/>
          <a:lstStyle/>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Which modules a customer sees, which fields each contains, which are mandatory, and the accepted values — all of it is data in a registry, never a list in the codebase</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Every field carries its own destination: a target product API field or an Ingestro import mapping, resolved at go-live</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Target schemas are registered per product, so a mapping resolves against a named product schema rather than a hardcoded field list</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Multi-language and multi-country from day one — eight UI languages already exist in the inherited flow, and country and language are first-class fields</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A hardcoded module or field list anywhere is a defect, not a shortcut</a:t>
            </a:r>
            <a:endParaRPr lang="en-US" sz="1600" dirty="0"/>
          </a:p>
        </p:txBody>
      </p:sp>
      <p:sp>
        <p:nvSpPr>
          <p:cNvPr id="6"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7"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The economics come from reuse, not one import</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slide-body"/>
          <p:cNvSpPr/>
          <p:nvPr/>
        </p:nvSpPr>
        <p:spPr>
          <a:xfrm>
            <a:off x="640080" y="1051560"/>
            <a:ext cx="7863840" cy="3657600"/>
          </a:xfrm>
          <a:prstGeom prst="rect">
            <a:avLst/>
          </a:prstGeom>
          <a:noFill/>
          <a:ln/>
        </p:spPr>
        <p:txBody>
          <a:bodyPr wrap="square" rtlCol="0" anchor="t"/>
          <a:lstStyle/>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Customers migrating off the same legacy system have the same problem, and today we solve it from scratch every time</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Every approved column mapping makes the next customer on that system cheaper — the library is the asset, not any single import</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The same holds for the next legacy source, and the one after that. The tool gets cheaper to run the longer it runs</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We already own curated mapping knowledge from real migrations; today it sits in a script instead of in a store</a:t>
            </a:r>
            <a:endParaRPr lang="en-US" sz="1600" dirty="0"/>
          </a:p>
          <a:p>
            <a:pPr marL="342900" indent="-342900">
              <a:spcAft>
                <a:spcPts val="1200"/>
              </a:spcAft>
              <a:buSzPct val="100000"/>
              <a:buChar char="•"/>
            </a:pPr>
            <a:r>
              <a:rPr lang="en-US" sz="1600" dirty="0">
                <a:solidFill>
                  <a:srgbClr val="24462B"/>
                </a:solidFill>
                <a:latin typeface="Arial" pitchFamily="34" charset="0"/>
                <a:ea typeface="Arial" pitchFamily="34" charset="-122"/>
                <a:cs typeface="Arial" pitchFamily="34" charset="-120"/>
              </a:rPr>
              <a:t>This is the part that turns a migration tool into an Aceve capability</a:t>
            </a:r>
            <a:endParaRPr lang="en-US" sz="1600" dirty="0"/>
          </a:p>
        </p:txBody>
      </p:sp>
      <p:sp>
        <p:nvSpPr>
          <p:cNvPr id="6"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7"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accent-bar"/>
          <p:cNvSpPr/>
          <p:nvPr/>
        </p:nvSpPr>
        <p:spPr>
          <a:xfrm>
            <a:off x="0" y="0"/>
            <a:ext cx="91440" cy="5143500"/>
          </a:xfrm>
          <a:prstGeom prst="rect">
            <a:avLst/>
          </a:prstGeom>
          <a:solidFill>
            <a:srgbClr val="BDD78F"/>
          </a:solidFill>
          <a:ln/>
        </p:spPr>
      </p:sp>
      <p:sp>
        <p:nvSpPr>
          <p:cNvPr id="3" name="slide-title"/>
          <p:cNvSpPr/>
          <p:nvPr/>
        </p:nvSpPr>
        <p:spPr>
          <a:xfrm>
            <a:off x="640080" y="365760"/>
            <a:ext cx="7863840" cy="502920"/>
          </a:xfrm>
          <a:prstGeom prst="rect">
            <a:avLst/>
          </a:prstGeom>
          <a:noFill/>
          <a:ln/>
        </p:spPr>
        <p:txBody>
          <a:bodyPr wrap="square" lIns="0" tIns="0" rIns="0" bIns="0" rtlCol="0" anchor="ctr"/>
          <a:lstStyle/>
          <a:p>
            <a:pPr indent="0" marL="0">
              <a:buNone/>
            </a:pPr>
            <a:r>
              <a:rPr lang="en-US" sz="2600" b="1" dirty="0">
                <a:solidFill>
                  <a:srgbClr val="152F1A"/>
                </a:solidFill>
                <a:latin typeface="Arial" pitchFamily="34" charset="0"/>
                <a:ea typeface="Arial" pitchFamily="34" charset="-122"/>
                <a:cs typeface="Arial" pitchFamily="34" charset="-120"/>
              </a:rPr>
              <a:t>Most pieces exist; three are missing</a:t>
            </a:r>
            <a:endParaRPr lang="en-US" sz="2600" dirty="0"/>
          </a:p>
        </p:txBody>
      </p:sp>
      <p:sp>
        <p:nvSpPr>
          <p:cNvPr id="4" name="title-rule"/>
          <p:cNvSpPr/>
          <p:nvPr/>
        </p:nvSpPr>
        <p:spPr>
          <a:xfrm>
            <a:off x="640080" y="886968"/>
            <a:ext cx="1371600" cy="32004"/>
          </a:xfrm>
          <a:prstGeom prst="rect">
            <a:avLst/>
          </a:prstGeom>
          <a:solidFill>
            <a:srgbClr val="BDD78F"/>
          </a:solidFill>
          <a:ln w="12700">
            <a:solidFill>
              <a:srgbClr val="BDD78F"/>
            </a:solidFill>
            <a:prstDash val="solid"/>
          </a:ln>
        </p:spPr>
      </p:sp>
      <p:sp>
        <p:nvSpPr>
          <p:cNvPr id="5" name="col-left-bg"/>
          <p:cNvSpPr/>
          <p:nvPr/>
        </p:nvSpPr>
        <p:spPr>
          <a:xfrm>
            <a:off x="640080" y="1051560"/>
            <a:ext cx="3749040" cy="347472"/>
          </a:xfrm>
          <a:prstGeom prst="rect">
            <a:avLst/>
          </a:prstGeom>
          <a:solidFill>
            <a:srgbClr val="BDD78F"/>
          </a:solidFill>
          <a:ln/>
        </p:spPr>
      </p:sp>
      <p:sp>
        <p:nvSpPr>
          <p:cNvPr id="6" name="col-left-header"/>
          <p:cNvSpPr/>
          <p:nvPr/>
        </p:nvSpPr>
        <p:spPr>
          <a:xfrm>
            <a:off x="640080" y="1051560"/>
            <a:ext cx="3749040" cy="347472"/>
          </a:xfrm>
          <a:prstGeom prst="rect">
            <a:avLst/>
          </a:prstGeom>
          <a:noFill/>
          <a:ln/>
        </p:spPr>
        <p:txBody>
          <a:bodyPr wrap="square" lIns="0" tIns="0" rIns="0" bIns="0" rtlCol="0" anchor="ctr"/>
          <a:lstStyle/>
          <a:p>
            <a:pPr algn="ctr" indent="0" marL="0">
              <a:buNone/>
            </a:pPr>
            <a:r>
              <a:rPr lang="en-US" sz="1500" b="1" dirty="0">
                <a:solidFill>
                  <a:srgbClr val="152F1A"/>
                </a:solidFill>
                <a:latin typeface="Arial" pitchFamily="34" charset="0"/>
                <a:ea typeface="Arial" pitchFamily="34" charset="-122"/>
                <a:cs typeface="Arial" pitchFamily="34" charset="-120"/>
              </a:rPr>
              <a:t>What we already have</a:t>
            </a:r>
            <a:endParaRPr lang="en-US" sz="1500" dirty="0"/>
          </a:p>
        </p:txBody>
      </p:sp>
      <p:sp>
        <p:nvSpPr>
          <p:cNvPr id="7" name="col-left-body"/>
          <p:cNvSpPr/>
          <p:nvPr/>
        </p:nvSpPr>
        <p:spPr>
          <a:xfrm>
            <a:off x="640080" y="1463040"/>
            <a:ext cx="3749040" cy="3200400"/>
          </a:xfrm>
          <a:prstGeom prst="rect">
            <a:avLst/>
          </a:prstGeom>
          <a:noFill/>
          <a:ln/>
        </p:spPr>
        <p:txBody>
          <a:bodyPr wrap="square" rtlCol="0" anchor="t"/>
          <a:lstStyle/>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Ingestro migration engine already licensed — signed MSA change order, 2026-05-29</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Column matching is the same engine already running inside Next — reuse, not new build</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A validated customer flow, plus a working sequential-import sandbox with recovered source</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A curated legacy→target mapping library encoding real domain knowledge</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A standing mandate — an onboarding tool is already named as the mitigation in Produkt’s own steering reporting</a:t>
            </a:r>
            <a:endParaRPr lang="en-US" sz="1400" dirty="0"/>
          </a:p>
        </p:txBody>
      </p:sp>
      <p:sp>
        <p:nvSpPr>
          <p:cNvPr id="8" name="col-right-bg"/>
          <p:cNvSpPr/>
          <p:nvPr/>
        </p:nvSpPr>
        <p:spPr>
          <a:xfrm>
            <a:off x="4663440" y="1051560"/>
            <a:ext cx="3749040" cy="347472"/>
          </a:xfrm>
          <a:prstGeom prst="rect">
            <a:avLst/>
          </a:prstGeom>
          <a:solidFill>
            <a:srgbClr val="457951"/>
          </a:solidFill>
          <a:ln/>
        </p:spPr>
      </p:sp>
      <p:sp>
        <p:nvSpPr>
          <p:cNvPr id="9" name="col-right-header"/>
          <p:cNvSpPr/>
          <p:nvPr/>
        </p:nvSpPr>
        <p:spPr>
          <a:xfrm>
            <a:off x="4663440" y="1051560"/>
            <a:ext cx="3749040"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What is missing</a:t>
            </a:r>
            <a:endParaRPr lang="en-US" sz="1500" dirty="0"/>
          </a:p>
        </p:txBody>
      </p:sp>
      <p:sp>
        <p:nvSpPr>
          <p:cNvPr id="10" name="col-right-body"/>
          <p:cNvSpPr/>
          <p:nvPr/>
        </p:nvSpPr>
        <p:spPr>
          <a:xfrm>
            <a:off x="4663440" y="1463040"/>
            <a:ext cx="3749040" cy="3200400"/>
          </a:xfrm>
          <a:prstGeom prst="rect">
            <a:avLst/>
          </a:prstGeom>
          <a:noFill/>
          <a:ln/>
        </p:spPr>
        <p:txBody>
          <a:bodyPr wrap="square" rtlCol="0" anchor="t"/>
          <a:lstStyle/>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A build resource. Up to 1 FTE, senior fullstack, 1–2 months, deployed and live against customers — not another prototype</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Hosting and external customer identity, with IT. The critical path since June, and independent of who writes the code</a:t>
            </a:r>
            <a:endParaRPr lang="en-US" sz="1400" dirty="0"/>
          </a:p>
          <a:p>
            <a:pPr marL="342900" indent="-342900">
              <a:spcAft>
                <a:spcPts val="800"/>
              </a:spcAft>
              <a:buSzPct val="100000"/>
              <a:buChar char="•"/>
            </a:pPr>
            <a:r>
              <a:rPr lang="en-US" sz="1400" dirty="0">
                <a:solidFill>
                  <a:srgbClr val="24462B"/>
                </a:solidFill>
                <a:latin typeface="Arial" pitchFamily="34" charset="0"/>
                <a:ea typeface="Arial" pitchFamily="34" charset="-122"/>
                <a:cs typeface="Arial" pitchFamily="34" charset="-120"/>
              </a:rPr>
              <a:t>A measured before/after on one real customer file. Asked for on 2026-08-10 and still the most persuasive artefact we could produce</a:t>
            </a:r>
            <a:endParaRPr lang="en-US" sz="1400" dirty="0"/>
          </a:p>
        </p:txBody>
      </p:sp>
      <p:sp>
        <p:nvSpPr>
          <p:cNvPr id="11" name="footer"/>
          <p:cNvSpPr/>
          <p:nvPr/>
        </p:nvSpPr>
        <p:spPr>
          <a:xfrm>
            <a:off x="640080" y="4919472"/>
            <a:ext cx="7863840" cy="182880"/>
          </a:xfrm>
          <a:prstGeom prst="rect">
            <a:avLst/>
          </a:prstGeom>
          <a:noFill/>
          <a:ln/>
        </p:spPr>
        <p:txBody>
          <a:bodyPr wrap="square" lIns="0" tIns="0" rIns="0" bIns="0" rtlCol="0" anchor="ctr"/>
          <a:lstStyle/>
          <a:p>
            <a:pPr algn="ctr" indent="0" marL="0">
              <a:buNone/>
            </a:pPr>
            <a:r>
              <a:rPr lang="en-US" sz="900" dirty="0">
                <a:solidFill>
                  <a:srgbClr val="666666"/>
                </a:solidFill>
                <a:latin typeface="Arial" pitchFamily="34" charset="0"/>
                <a:ea typeface="Arial" pitchFamily="34" charset="-122"/>
                <a:cs typeface="Arial" pitchFamily="34" charset="-120"/>
              </a:rPr>
              <a:t>Strictly confidential – only for internal use</a:t>
            </a:r>
            <a:endParaRPr lang="en-US" sz="900" dirty="0"/>
          </a:p>
        </p:txBody>
      </p:sp>
      <p:sp>
        <p:nvSpPr>
          <p:cNvPr id="12" name="page-number"/>
          <p:cNvSpPr/>
          <p:nvPr/>
        </p:nvSpPr>
        <p:spPr>
          <a:xfrm>
            <a:off x="8229600" y="4846320"/>
            <a:ext cx="731520" cy="228600"/>
          </a:xfrm>
          <a:prstGeom prst="rect">
            <a:avLst/>
          </a:prstGeom>
          <a:noFill/>
          <a:ln/>
        </p:spPr>
        <p:txBody>
          <a:bodyPr wrap="square" lIns="0" tIns="0" rIns="0" bIns="0" rtlCol="0" anchor="ctr"/>
          <a:lstStyle/>
          <a:p>
            <a:pPr algn="r" indent="0" marL="0">
              <a:buNone/>
            </a:pPr>
            <a:r>
              <a:rPr lang="en-US" sz="900" dirty="0">
                <a:solidFill>
                  <a:srgbClr val="666666"/>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2F1A"/>
        </a:solidFill>
      </p:bgPr>
    </p:bg>
    <p:spTree>
      <p:nvGrpSpPr>
        <p:cNvPr id="1" name=""/>
        <p:cNvGrpSpPr/>
        <p:nvPr/>
      </p:nvGrpSpPr>
      <p:grpSpPr>
        <a:xfrm>
          <a:off x="0" y="0"/>
          <a:ext cx="0" cy="0"/>
          <a:chOff x="0" y="0"/>
          <a:chExt cx="0" cy="0"/>
        </a:xfrm>
      </p:grpSpPr>
      <p:sp>
        <p:nvSpPr>
          <p:cNvPr id="2" name="closing-bar"/>
          <p:cNvSpPr/>
          <p:nvPr/>
        </p:nvSpPr>
        <p:spPr>
          <a:xfrm>
            <a:off x="0" y="0"/>
            <a:ext cx="164592" cy="5143500"/>
          </a:xfrm>
          <a:prstGeom prst="rect">
            <a:avLst/>
          </a:prstGeom>
          <a:solidFill>
            <a:srgbClr val="BDD78F"/>
          </a:solidFill>
          <a:ln/>
        </p:spPr>
      </p:sp>
      <p:sp>
        <p:nvSpPr>
          <p:cNvPr id="3" name="closing-strip"/>
          <p:cNvSpPr/>
          <p:nvPr/>
        </p:nvSpPr>
        <p:spPr>
          <a:xfrm>
            <a:off x="0" y="4754880"/>
            <a:ext cx="9144000" cy="73152"/>
          </a:xfrm>
          <a:prstGeom prst="rect">
            <a:avLst/>
          </a:prstGeom>
          <a:solidFill>
            <a:srgbClr val="BDD78F"/>
          </a:solidFill>
          <a:ln/>
        </p:spPr>
      </p:sp>
      <p:sp>
        <p:nvSpPr>
          <p:cNvPr id="4" name="closing"/>
          <p:cNvSpPr/>
          <p:nvPr/>
        </p:nvSpPr>
        <p:spPr>
          <a:xfrm>
            <a:off x="640080" y="1371600"/>
            <a:ext cx="7863840" cy="13716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next step is one measured customer file,</a:t>
            </a:r>
            <a:endParaRPr lang="en-US" sz="3200" dirty="0"/>
          </a:p>
          <a:p>
            <a:pPr indent="0" marL="0">
              <a:buNone/>
            </a:pPr>
            <a:r>
              <a:rPr lang="en-US" sz="3200" b="1" dirty="0">
                <a:solidFill>
                  <a:srgbClr val="FFFFFF"/>
                </a:solidFill>
                <a:latin typeface="Arial" pitchFamily="34" charset="0"/>
                <a:ea typeface="Arial" pitchFamily="34" charset="-122"/>
                <a:cs typeface="Arial" pitchFamily="34" charset="-120"/>
              </a:rPr>
              <a:t>not another prototype</a:t>
            </a:r>
            <a:endParaRPr lang="en-US" sz="3200" dirty="0"/>
          </a:p>
        </p:txBody>
      </p:sp>
      <p:sp>
        <p:nvSpPr>
          <p:cNvPr id="5" name="closing-body"/>
          <p:cNvSpPr/>
          <p:nvPr/>
        </p:nvSpPr>
        <p:spPr>
          <a:xfrm>
            <a:off x="640080" y="3017520"/>
            <a:ext cx="7863840" cy="914400"/>
          </a:xfrm>
          <a:prstGeom prst="rect">
            <a:avLst/>
          </a:prstGeom>
          <a:noFill/>
          <a:ln/>
        </p:spPr>
        <p:txBody>
          <a:bodyPr wrap="square" lIns="0" tIns="0" rIns="0" bIns="0" rtlCol="0" anchor="ctr"/>
          <a:lstStyle/>
          <a:p>
            <a:pPr indent="0" marL="0">
              <a:buNone/>
            </a:pPr>
            <a:r>
              <a:rPr lang="en-US" sz="1500" dirty="0">
                <a:solidFill>
                  <a:srgbClr val="BDD78F"/>
                </a:solidFill>
                <a:latin typeface="Arial" pitchFamily="34" charset="0"/>
                <a:ea typeface="Arial" pitchFamily="34" charset="-122"/>
                <a:cs typeface="Arial" pitchFamily="34" charset="-120"/>
              </a:rPr>
              <a:t>Run one real export through the Ingestro sandbox and time it · Open the IT conversation on hosting and external identity · Get the second product's interest in writing</a:t>
            </a:r>
            <a:endParaRPr lang="en-US" sz="1500" dirty="0"/>
          </a:p>
        </p:txBody>
      </p:sp>
      <p:sp>
        <p:nvSpPr>
          <p:cNvPr id="6" name="closing-meta"/>
          <p:cNvSpPr/>
          <p:nvPr/>
        </p:nvSpPr>
        <p:spPr>
          <a:xfrm>
            <a:off x="640080" y="4297680"/>
            <a:ext cx="7863840" cy="274320"/>
          </a:xfrm>
          <a:prstGeom prst="rect">
            <a:avLst/>
          </a:prstGeom>
          <a:noFill/>
          <a:ln/>
        </p:spPr>
        <p:txBody>
          <a:bodyPr wrap="square" lIns="0" tIns="0" rIns="0" bIns="0" rtlCol="0" anchor="ctr"/>
          <a:lstStyle/>
          <a:p>
            <a:pPr indent="0" marL="0">
              <a:buNone/>
            </a:pPr>
            <a:r>
              <a:rPr lang="en-US" sz="1000" dirty="0">
                <a:solidFill>
                  <a:srgbClr val="BDD78F"/>
                </a:solidFill>
                <a:latin typeface="Arial" pitchFamily="34" charset="0"/>
                <a:ea typeface="Arial" pitchFamily="34" charset="-122"/>
                <a:cs typeface="Arial" pitchFamily="34" charset="-120"/>
              </a:rPr>
              <a:t>Carl Bäckström · Professional Services · carl.backstrom@aceve.com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Aceve Preboarding &amp; Onboarding Portal — problem and proposed solution</dc:title>
  <dc:subject>PptxGenJS Presentation</dc:subject>
  <dc:creator>Aceve</dc:creator>
  <cp:lastModifiedBy>Aceve</cp:lastModifiedBy>
  <cp:revision>1</cp:revision>
  <dcterms:created xsi:type="dcterms:W3CDTF">2026-08-18T14:43:45Z</dcterms:created>
  <dcterms:modified xsi:type="dcterms:W3CDTF">2026-08-18T14:43:45Z</dcterms:modified>
</cp:coreProperties>
</file>